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6675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presProps" Target="presProps.xml"/>
  <Relationship Id="rId12" Type="http://schemas.openxmlformats.org/officeDocument/2006/relationships/viewProps" Target="viewProps.xml"/>
  <Relationship Id="rId13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13920343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logo1.png"/>
  <Relationship Id="rId3" Type="http://schemas.openxmlformats.org/officeDocument/2006/relationships/image" Target="../media/background_0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95250" y="5715000"/>
          <a:ext cx="3905250" cy="6667500"/>
          <a:chOff x="95250" y="5715000"/>
          <a:chExt cx="3905250" cy="6667500"/>
        </a:xfrm>
      </p:grpSpPr>
      <p:pic>
        <p:nvPicPr>
          <p:cNvPr id="1" name="SWAS Logo" descr="SWA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5715000"/>
            <a:ext cx="3810000" cy="952500"/>
          </a:xfrm>
          <a:prstGeom prst="rect">
            <a:avLst/>
          </a:prstGeom>
          <a:effectLst>
            <a:outerShdw blurRad="57150" dist="95250" dir="2700000" algn="br" rotWithShape="0">
              <a:srgbClr val="000000">
                <a:alpha val="50%"/>
              </a:srgbClr>
            </a:outerShdw>
          </a:effectLst>
        </p:spPr>
      </p:pic>
    </p:spTree>
  </p:cSld>
  <p:clrMapOvr>
    <a:masterClrMapping/>
  </p:clrMapOvr>
  <p:transition advClick="0" advTm="5000">
    <p:cover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08/2020 Hours: 8320.5 Cycles: 63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2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M GROUP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M GROUP COMPLIANC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1/2019 Hours: 8233.5 Cycles: 62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a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"A" 200 FH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31/2017 Hours: 8178.7 Cycles: 623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378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17.3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1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IOR PLACARDS AND DECALS - INSPECT FOR SECURITY OF INSTALLATION AND LEGIBILI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1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PLANE ID PLATE - INSPECT FOR SECURITY OF INSTALLATION AND LEGIBILI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1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XTERIOR PLACARDS, DECALS, AND MARKINGS - INSPECT FOR SECURITY OF INSTALLATION AND LEGIBILI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LEED AIR DUCTS LEAKAGE MONITORING SYSTEM - FUNCTIONAL CHECK OF ELECTRICAL CIRCUITRY AND THERMAL SWITCHE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 BAROMETRIC PRESSURE SWITCH - TEST BENCH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1/2019 Hours: 8233.5 Cycles: 62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CKPIT BLOWER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7/2020 Hours: 8324.9 Cycles: 63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Hours: 8524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8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3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NTENNA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ROUND FAULT INTERRUPTER - TEST, THROUGH "TEST GFI" BUTTON ON THE UNI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STARTER/GENERATOR - LEAR SIEGLE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12/2013 Hours: 7411.7 Cycles: 571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1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411.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5.7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ARTER/GENERATOR AIR COOLING DUCTS - INSPECT FOR GENERAL CONDITION, PRESENCE OF KINK, DAMAGES AND OBSTUCTIONS. INSPECT THE COOLING DUCTS FOR PROPER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BATTERY - CONCORDE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1/28/2021 Hours: 8357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ATTERY INSTALLATION - INSPECT GROUNDING CONNECTION. INSPECT PLATE AND BAY FOR CORROSION. INSPECT TEMPERATURE SYSTEM CONNECTOR. INSPECT FOR SPEWAG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ATTERY INSTALLATION - TEMPERATURE INDICATION OPERATIONAL TEST (MFD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BATTERY QUICK DISCONNECT PLUG - INSPECT THE QUICK DISCONNECT PLUG INTERNAL COMPONENTS QUICK DISCONNECT PLUG TERMINAL TORQUE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4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MERGENCY POWER UNIT - CAPACITY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7/2020 Hours: 8324.9 Cycles: 63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ABIN, FLIGHT, AND BAGGAGE COMPARTMENT INSPECTION - INSPECT FOR OBJECTS THAT MIGHT FOUL THE AIRPLANE CONTROL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T (AF) TYPE 503 - TECHTEST -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08/2020 Hours: 8320.5 Cycles: 63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T (AF) TYPE 503 - TECHTEST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2/03/2021 Hours: 8357.8 Cycles: 639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5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IRST AID KIT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7/2020 Hours: 8324.9 Cycles: 63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6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ENGINE FIRE EXTINGUISHING BOTTLE - VISUAL INSPECTION AND WEIGHT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6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FIRE EXTINGUISHING BOTTLE - VISUAL INSPECTION AND WEIGHT CHECK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6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IRE EXTINGUISHING ELECTRICAL CIRCUIT - CHECK FOR CONTINUIT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WD FLAP ACTUATORS AND FITTINGS - VISUAL INSPECTION FOR GENERAL CONDITION AND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TRIM SYSTEM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3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EVATOR CONTROL SYSTEM - CHECK SMOOTH TRAVEL WITH STABILIZER AT -4.5 DEG (SPRING AT NEUTRAL CONDITION) AND VERIFY SPRING PROPER EFFECTIVENESS WITH STABILIZER AT FULL UP AND FULL DOW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5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LAP SYSTEM - OPERATIONAL TEST (FUNCTIONAL TEST IF FLAPS REMOVED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27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LIGHT CONTROLS - CHECK FOR SMOOTH TRAVEL. CHECK SURFACES ELECTRICAL BONDING AND STOP EFFECTIVENESS.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2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29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YDRAULIC POWER PACKAGE ELECTRIC MOTOR - VICKERS - CHECK BRUSHES FOR WEAR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21/2004 Hours: 7777.1 Cycles: 594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377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Hours: -18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OPERATIONAL TEST INCLUDING HAND PUMP GEAR EXS CHECK FOR PROPER OPER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ANDING GEAR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Cycles: 18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Cycle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Cycles: 65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Cycles: 12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IRES - INSPECT FOR WEAR, CUTS, INFLATION, CLENLINESS, AND EVIDENCE OF DAMAG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STRUTS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2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STRUT - CHECK NITROGEN PRESSUR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3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XTERNAL LIGHTS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ITOT TUBES, STATIC PORTS AND LINES - INSPECT FOR GENERAL CONDITION AND SECURITY OF INSTALLATION; PERFORM PILOT AND COPILOT LINES CHECK AND CLEAN. PERFORM PILOT AND COPILOT HOLE CLEANING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AR-91.34-6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GPS/FMS DATABASE UPDATE IAW AC90-1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6/17/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4-Jul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Days: 16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VSM AIR DATA SYSTEM (RVSM OPERATIONS) - GROUND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1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VSM CRITICAL REGION (RVSM OPERATIONS)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T. BY INSTRUMENT ISI GH3100 - OPERA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08/2020 Hours: 8320.5 Cycles: 63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920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4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CAS I SYSTEM - SYSTEM TEST (AUTOTEST)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AVIGATION SYSTEM ANTENNAS - INSPECT FOR GENERAL CONDITION AND SECURITY OF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4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ASS CARD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XYGEN BAROMETRIC PRESSURE SWITCH - CABIN BAROMETRIC PRESSURE SWITCH - BENCH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/21/2019 Hours: 8233.5 Cycles: 627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3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XYGEN SYSTEM THREE POSITION VALVE - PACIFIC PRECI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21/2016 Hours: 7956.7 Cycles: 60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35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MOKE GOGGLES -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1/27/2020 Hours: 8324.9 Cycles: 637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y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1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USELAGE - CHECK THE FUSELAGE EXTERNAL DRAIN POINTS AND DRAIN THE BELL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0/08/2020 Hours: 8320.5 Cycles: 63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6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18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520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4.5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FUSELAGE BELLY INTERNAL - CENTRAL BAYS - DRAIN HOLES CHECK AND CLEANING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8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AILCONE SKINS - VISUAL INSPECTION OF STRINGER/SKIN JOINTS/EXTERNAL SKIN FOR CRACKS AND CORROSION. VISUAL INSPECTION OF BULKHEAD FAIRLEADS FOR PROPER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8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ETALLIC TAIL CONE (INCLUDING VERTICAL STABILIZER) - VISUAL INSPECTION OF OUTER SKIN FOR CRACKS AND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6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AIN LANDING GEAR (MLG) BAY AREA -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3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OSE LANDING GEAR (NLG) BAY AREA - INSPEC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6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9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5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RIZONTAL STABILIZER ASSEMBLY - VISUAL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5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LEVATOR - VISUAL INSPECTION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57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57-4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WING LEADING EDGES (POLISHED) - VISUAL EXTERNAL INSPECTION SURFACE FOR CORROSION/OXIDATION AND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INSPECT FOR GENERAL CONDI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42875" y="142875"/>
          <a:ext cx="12001500" cy="2047875"/>
          <a:chOff x="142875" y="142875"/>
          <a:chExt cx="12001500" cy="2047875"/>
        </a:xfrm>
      </p:grpSpPr>
      <p:graphicFrame>
        <p:nvGraphicFramePr>
          <p:cNvPr id="1" name="" descr=""/>
          <p:cNvGraphicFramePr>
            <a:graphicFrameLocks noGrp="1"/>
          </p:cNvGraphicFramePr>
          <p:nvPr/>
        </p:nvGraphicFramePr>
        <p:xfrm>
          <a:off x="142875" y="142875"/>
          <a:ext cx="11858625" cy="1905000"/>
        </p:xfrm>
        <a:graphic>
          <a:graphicData uri="http://schemas.openxmlformats.org/drawingml/2006/table">
            <a:tbl>
              <a:tblPr firstRow="1" bandRow="1"/>
              <a:tblGrid>
                <a:gridCol w="952500"/>
                <a:gridCol w="762000"/>
                <a:gridCol w="1333500"/>
                <a:gridCol w="3476625"/>
                <a:gridCol w="1143000"/>
                <a:gridCol w="1000125"/>
                <a:gridCol w="1000125"/>
                <a:gridCol w="1143000"/>
                <a:gridCol w="1047750"/>
              </a:tblGrid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 gridSpan="9">
                  <a:txBody>
                    <a:bodyPr wrap="square" rtlCol="0">
                      <a:spAutoFit/>
                    </a:bodyPr>
                    <a:lstStyle/>
                    <a:p>
                      <a:pPr algn="ctr" fontAlgn="ctr" marL="0" marR="0" indent="0" lvl="0">
                        <a:lnSpc>
                          <a:spcPct val="100%"/>
                        </a:lnSpc>
                      </a:pPr>
                      <a:r>
                        <a:rPr lang="en-US" b="1" sz="13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OVER DUE, CURRENT DUE AND PROJECTED DUE]]></a:t>
                      </a:r>
                    </a:p>
                  </a:txBody>
                  <a:tcPr anchor="ctr" marL="0" marR="0" marT="76200" marB="7620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ead40e">
                        <a:alpha val="91.76%"/>
                      </a:srgbClr>
                    </a:solidFill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 wrap="square" rtlCol="0">
                      <a:spAutoFit/>
                    </a:bodyPr>
                    <a:lstStyle/>
                    <a:p>
                      <a:pPr algn="l" fontAlgn="base" marL="0" marR="0" indent="0" lvl="0">
                        <a:lnSpc>
                          <a:spcPct val="100%"/>
                        </a:lnSpc>
                      </a:pPr>
                    </a:p>
                  </a:txBody>
                  <a:tcPr marL="0" marR="0" marT="0" marB="0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IRCRAFT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57150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FERENCE]]></a:t>
                      </a:r>
                    </a:p>
                  </a:txBody>
                  <a:tcPr anchor="ctr" marL="57150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ESCRIPTION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COMPLI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INTERVAL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TOLERANC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EXT DUE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b="1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EMAINING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rgbClr val="0dba32">
                        <a:alpha val="100.00%"/>
                      </a:srgbClr>
                    </a:solidFill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RT PROPELLER - HARTZELL - BLADE INSPECTION AND CORROSION REMOVAL IF NECESSARY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8/13/2020 Hours: 594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13-Aug-2021 Hours: 6145.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Months: 1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Days: 15 ]]></a:t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34.2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1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ROPELLERS - LUBRICATE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1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1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46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7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6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6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AUTOFEATHER HIGH AND LOW TORQUE PRESSURE SWITCHES - BENCH CALIBRATION OR PERFORM FUNCTIONAL TEST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S AND VIBRATION ISOLATORS - INSPECT ENGINES MOUNTS CRADLE AND THE VIBRATION ISOLATORS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2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 MOUNT ELECTRICAL BONDING CONNECTIONS - INSPECT THE ENGINES MOUNTS ELECTRICAL BONDING FOR DAMAGE, SECURITY OF INSTALLATION, AND AABSENCE OF CORROS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Hour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Hours: 2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Hours: 8518.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122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20-00.71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ENGINES - INSPECT FOR PROPER INSTALLATION. INSPECT FOR FUEL AND OIL LEAKS. INSPECT HOSES, TUBING, CLAMPS, ELECTRICAL CONNECTORS AND ENGINE ACCESSORIES FOR PROPER INSTALLA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8/2020 Hours: 8318.8 Cycles: 637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1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3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1-Mar-2021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Months: -2 ]]></a:t>
                      </a:r>
                      <a:r>
                        <a:rPr lang="en-US" sz="1000" spc="0" u="none">
                          <a:solidFill>
                            <a:srgbClr val="f40808">
                              <a:alpha val="95.69%"/>
                            </a:srgbClr>
                          </a:solidFill>
                          <a:latin typeface="Calibri"/>
                        </a:rPr>
                        <a:t><![CDATA[Days: -2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72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5-10-00.72-00-00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LT ENGINE - HOT SECTION INSPECTION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3/11/2011 Hours: 6095.5 Cycles: 5608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20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5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Hours: 8095.5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  <a:r>
                        <a:rPr lang="en-US" sz="1000" spc="0" u="none">
                          <a:solidFill>
                            <a:srgbClr val="f39c12">
                              <a:alpha val="95.29%"/>
                            </a:srgbClr>
                          </a:solidFill>
                          <a:latin typeface="Calibri"/>
                        </a:rPr>
                        <a:t><![CDATA[Hours: 169.8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  <a:tr h="361950"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N267TA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SB-80-0457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9525" marR="9525" indent="0" lvl="0">
                        <a:lnSpc>
                          <a:spcPct val="100%"/>
                        </a:lnSpc>
                      </a:pPr>
                      <a:r>
                        <a:rPr lang="en-US" sz="9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P180 Avanti II (SAFRAN LG): TAT Probe Heater Inhibition on Ground. **]]></a:t>
                      </a:r>
                    </a:p>
                  </a:txBody>
                  <a:tcPr anchor="ctr" marL="9525" marR="9525" marT="9525" marB="95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04/30/2019 Hours: 8181.9 Cycles: 6263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Months: 24 Hours: 66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Days: 200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000000">
                              <a:alpha val="100.00%"/>
                            </a:srgbClr>
                          </a:solidFill>
                          <a:latin typeface="Calibri"/>
                        </a:rPr>
                        <a:t><![CDATA[30-Apr-2021 Hours: 8841.9 ]]></a:t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 wrap="square" rtlCol="0">
                      <a:spAutoFit/>
                    </a:bodyPr>
                    <a:lstStyle/>
                    <a:p>
                      <a:pPr algn="ctr" fontAlgn="ctr" marL="47625" marR="47625" indent="0" lvl="0">
                        <a:lnSpc>
                          <a:spcPct val="100%"/>
                        </a:lnSpc>
                      </a:pP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Months: -1 ]]></a:t>
                      </a:r>
                      <a:r>
                        <a:rPr lang="en-US" sz="1000" spc="0" u="none">
                          <a:solidFill>
                            <a:srgbClr val="d35400">
                              <a:alpha val="82.75%"/>
                            </a:srgbClr>
                          </a:solidFill>
                          <a:latin typeface="Calibri"/>
                        </a:rPr>
                        <a:t><![CDATA[Days: -29 ]]></a:t>
                      </a:r>
                      <a:r>
                        <a:rPr lang="en-US" sz="1000" spc="0" u="none">
                          <a:solidFill>
                            <a:srgbClr val="036a03">
                              <a:alpha val="1.18%"/>
                            </a:srgbClr>
                          </a:solidFill>
                          <a:latin typeface="Calibri"/>
                        </a:rPr>
                        <a:t><![CDATA[Hours: 445.9 ]]></a:t>
                      </a:r>
                      <a:r>
                        <a:rPr lang="en-US" sz="1000" spc="0" u="none">
                          <a:solidFill>
                            <a:srgbClr val="036a03">
                              <a:alpha val="100.00%"/>
                            </a:srgbClr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47625" marR="47625" marT="47625" marB="47625">
                    <a:lnL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>
                          <a:alpha val="100.00%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advClick="0" advTm="5000">
    <p:cover dir="r"/>
  </p:transition>
</p:sld>
</file>

<file path=ppt/theme/theme1.xml><?xml version="1.0" encoding="utf-8"?>
<a:theme xmlns:a="http://schemas.openxmlformats.org/drawingml/2006/main" name="Theme35">
  <a:themeElements>
    <a:clrScheme name="Theme35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35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35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