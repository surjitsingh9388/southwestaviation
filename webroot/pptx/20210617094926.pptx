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presProps" Target="presProps.xml"/>
  <Relationship Id="rId7" Type="http://schemas.openxmlformats.org/officeDocument/2006/relationships/viewProps" Target="viewProps.xml"/>
  <Relationship Id="rId8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312957639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logo1.png"/>
  <Relationship Id="rId3" Type="http://schemas.openxmlformats.org/officeDocument/2006/relationships/image" Target="../media/background_0.jpg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95250" y="5715000"/>
          <a:ext cx="3905250" cy="6667500"/>
          <a:chOff x="95250" y="5715000"/>
          <a:chExt cx="3905250" cy="6667500"/>
        </a:xfrm>
      </p:grpSpPr>
      <p:pic>
        <p:nvPicPr>
          <p:cNvPr id="1" name="SWAS Logo" descr="SWAS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" y="5715000"/>
            <a:ext cx="3810000" cy="952500"/>
          </a:xfrm>
          <a:prstGeom prst="rect">
            <a:avLst/>
          </a:prstGeom>
          <a:effectLst>
            <a:outerShdw blurRad="57150" dist="95250" dir="2700000" algn="br" rotWithShape="0">
              <a:srgbClr val="000000">
                <a:alpha val="50%"/>
              </a:srgbClr>
            </a:outerShdw>
          </a:effectLst>
        </p:spPr>
      </p:pic>
    </p:spTree>
  </p:cSld>
  <p:clrMapOvr>
    <a:masterClrMapping/>
  </p:clrMapOvr>
  <p:transition advClick="0" advTm="5000">
    <p:cover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42875" y="142875"/>
          <a:ext cx="8953500" cy="2047875"/>
          <a:chOff x="142875" y="142875"/>
          <a:chExt cx="8953500" cy="2047875"/>
        </a:xfrm>
      </p:grpSpPr>
      <p:graphicFrame>
        <p:nvGraphicFramePr>
          <p:cNvPr id="1" name="" descr=""/>
          <p:cNvGraphicFramePr>
            <a:graphicFrameLocks noGrp="1"/>
          </p:cNvGraphicFramePr>
          <p:nvPr/>
        </p:nvGraphicFramePr>
        <p:xfrm>
          <a:off x="142875" y="142875"/>
          <a:ext cx="8810625" cy="1905000"/>
        </p:xfrm>
        <a:graphic>
          <a:graphicData uri="http://schemas.openxmlformats.org/drawingml/2006/table">
            <a:tbl>
              <a:tblPr firstRow="1" bandRow="1"/>
              <a:tblGrid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</a:tblGrid>
              <a:tr h="361950">
                <a:tc gridSpan="10">
                  <a:txBody>
                    <a:bodyPr wrap="square" rtlCol="0">
                      <a:spAutoFit/>
                    </a:bodyPr>
                    <a:lstStyle/>
                    <a:p>
                      <a:pPr algn="ctr" fontAlgn="ctr" marL="0" marR="0" indent="0" lvl="0">
                        <a:lnSpc>
                          <a:spcPct val="100%"/>
                        </a:lnSpc>
                      </a:pPr>
                      <a:r>
                        <a:rPr lang="en-US" b="1" sz="12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OVER DUE, CURRENT DUE AND PROJECTED DUE]]></a:t>
                      </a:r>
                    </a:p>
                  </a:txBody>
                  <a:tcPr anchor="ctr" marL="0" marR="0" marT="76200" marB="7620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ad40e">
                        <a:alpha val="91.76%"/>
                      </a:srgbClr>
                    </a:solidFill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IRCRAFT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FERENCE, COMPONENT & ITEM TYP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ESCRIPTION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OMPLI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INTERVAL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OLER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SN/TSO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EXT DU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MAINING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 Day VOR Check Airframe INSPECTION DISP:FAR 91.171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 DAY VOR CHECK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22.4 Cycles: 546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/25/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4-Jun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Days: 7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21-51-00 Airframe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FREON AIR CONDITIONING SYSTEM CONDENSER/COMPRESSOR ELECTRICAL MOTOR - INSPECT BRUSHES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22.4 Cycles: 546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8/06/2019 Hours: 6365.4 Cycles: 499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65.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43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24-30-00 Airframe INSPECTION DISP:OVERHAUL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STARTER/GENERATOR - LEAR SIEGLER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22.4 Cycles: 546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9/2015 Hours: 5912.5 Cycles: 46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12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d35400">
                              <a:alpha val="82.75%"/>
                            </a:srgbClr>
                          </a:solidFill>
                          <a:latin typeface="Calibri"/>
                        </a:rPr>
                        <a:t><![CDATA[Hours: -9.9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24-31-00 Airframe INSPECTION DISP: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AIN BATTERY - CONCORDE - CAPACITY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22.4 Cycles: 546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10/2020 Hours: 6730.5 Cycles: 5329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Jun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Days: 13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7-50-00 Airframe INSPECTION DISP:FUNC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OUTBOARD FLAP TRANSMISSION SHAFT #5 - FUNC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22.4 Cycles: 546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9/2015 Hours: 5912.5 Cycles: 46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63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41.1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7-50-00 Airframe INSPECTION DISP:FUNC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OUTBOARD FLAP TRANSMISSION SHAFT #6 - FUNC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22.4 Cycles: 546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9/2015 Hours: 5912.5 Cycles: 46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63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41.1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7-50-00 Airframe INSPECTION DISP:FUNC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OUTBOARD FLAP TRANSMISSION SHAFT #5 - FUNC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22.4 Cycles: 546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9/2015 Hours: 5912.5 Cycles: 46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63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41.1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7-50-00 Airframe INSPECTION DISP:FUNC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OUTBOARD FLAP TRANSMISSION SHAFT #6 - FUNC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22.4 Cycles: 546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9/2015 Hours: 5912.5 Cycles: 46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63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41.1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7-20-00 Airframe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UDDER CONTROL SYSTEM - INSPECT THE CABLES PASSAGES THROUGH THE REAR PRESSURIZED BULKHEAD SECTIONS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22.4 Cycles: 546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9/2015 Hours: 5912.5 Cycles: 46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7112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90.1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advClick="0" advTm="5000">
    <p:cover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42875" y="142875"/>
          <a:ext cx="8953500" cy="2047875"/>
          <a:chOff x="142875" y="142875"/>
          <a:chExt cx="8953500" cy="2047875"/>
        </a:xfrm>
      </p:grpSpPr>
      <p:graphicFrame>
        <p:nvGraphicFramePr>
          <p:cNvPr id="1" name="" descr=""/>
          <p:cNvGraphicFramePr>
            <a:graphicFrameLocks noGrp="1"/>
          </p:cNvGraphicFramePr>
          <p:nvPr/>
        </p:nvGraphicFramePr>
        <p:xfrm>
          <a:off x="142875" y="142875"/>
          <a:ext cx="8810625" cy="1905000"/>
        </p:xfrm>
        <a:graphic>
          <a:graphicData uri="http://schemas.openxmlformats.org/drawingml/2006/table">
            <a:tbl>
              <a:tblPr firstRow="1" bandRow="1"/>
              <a:tblGrid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  <a:gridCol w="881063"/>
              </a:tblGrid>
              <a:tr h="361950">
                <a:tc gridSpan="10">
                  <a:txBody>
                    <a:bodyPr wrap="square" rtlCol="0">
                      <a:spAutoFit/>
                    </a:bodyPr>
                    <a:lstStyle/>
                    <a:p>
                      <a:pPr algn="ctr" fontAlgn="ctr" marL="0" marR="0" indent="0" lvl="0">
                        <a:lnSpc>
                          <a:spcPct val="100%"/>
                        </a:lnSpc>
                      </a:pPr>
                      <a:r>
                        <a:rPr lang="en-US" b="1" sz="12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OVER DUE, CURRENT DUE AND PROJECTED DUE]]></a:t>
                      </a:r>
                    </a:p>
                  </a:txBody>
                  <a:tcPr anchor="ctr" marL="0" marR="0" marT="76200" marB="7620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ad40e">
                        <a:alpha val="91.76%"/>
                      </a:srgbClr>
                    </a:solidFill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IRCRAFT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FERENCE, COMPONENT & ITEM TYP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ESCRIPTION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OMPLI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INTERVAL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OLER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SN/TSO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EXT DU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8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MAINING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7-20-00 Airframe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UDDER CONTROL SYSTEM - INSPECT THE ATTACHMENT OF THE CABLES TO THE COCKPIT SECTORS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22.4 Cycles: 546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9/2015 Hours: 5912.5 Cycles: 46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7112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90.1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7-10-00 Airframe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ILERON CONTROL SYSTEM - CHECK PLAY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22.4 Cycles: 546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19/2015 Hours: 5912.5 Cycles: 46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7112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90.1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7-10-00 Airframe INSPECTION DISP: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ILERON CONTROL SYSTEM - INSPECT THE ATTACHMENT OF THE CABLES TO THE COCKPIT SECTORS (CONTROL WHEELS). INSPECT THE CABLES PASSAGES THROUGH THE REAR PRESSURIZED BULKHEAD SECTIONS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22.4 Cycles: 546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30/2010 Hours: 5912.5 Cycles: 46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7112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90.1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28-20-00 Airframe INSPECTION DISP:OVERHAUL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STANDBY FUEL BOOSTER PUMP - PARKER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22.4 Cycles: 546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9/2020 Hours: 5218.3 Cycles: 517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3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7097.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74.7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30-10-00 Airframe INSPECTION DISP:OVERHAUL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WING A/I PROTECTION VALVES - BARBER COLEMA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22.4 Cycles: 546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9/2020 Hours: 6497.1 Cycles: 517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3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7021.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98.7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FAR 91.34-61-00 Airframe INSPECTION DISP:AS REQUIRED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GPS/FMS DATABASE UPDATE IAW AC90-1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22.4 Cycles: 546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/19/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6-Jun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1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6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61-20-00 Airframe INSPECTION DISP:OVERHAUL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PROPELLER OVERSPEED GOVERNOR - WOODWARD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22.4 Cycles: 546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9/2020 Hours: 6496.6 Cycles: 517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5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7090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68.4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6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61-10-00 Airframe INSPECTION DISP:LUBRICA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PROPELLERS - LUBRICATE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22.4 Cycles: 546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26/2021 Hours: 6818.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15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r-2022 Hours: 6968.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Months: 9 ]]></a:t>
                      </a: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Days: 14 ]]></a:t>
                      </a:r>
                      <a:r>
                        <a:rPr lang="en-US" sz="7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46.3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3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B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B-80-0457 R1 Airframe SB - 8 DISP:OPE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6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P180 Avanti II (SAFRAN LG): TAT Probe Heater Inhibition on Ground.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922.4 Cycles: 546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4/30/2019 Hours: 6755.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24 Hours: 6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Apr-2021 Hours: 7415.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700" spc="0" u="none">
                          <a:solidFill>
                            <a:srgbClr val="d35400">
                              <a:alpha val="82.75%"/>
                            </a:srgbClr>
                          </a:solidFill>
                          <a:latin typeface="Calibri"/>
                        </a:rPr>
                        <a:t><![CDATA[Months: -1 ]]></a:t>
                      </a:r>
                      <a:r>
                        <a:rPr lang="en-US" sz="700" spc="0" u="none">
                          <a:solidFill>
                            <a:srgbClr val="d35400">
                              <a:alpha val="82.75%"/>
                            </a:srgbClr>
                          </a:solidFill>
                          <a:latin typeface="Calibri"/>
                        </a:rPr>
                        <a:t><![CDATA[Days: -18 ]]></a:t>
                      </a:r>
                      <a:r>
                        <a:rPr lang="en-US" sz="7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Hours: 492.7 ]]></a:t>
                      </a:r>
                      <a:r>
                        <a:rPr lang="en-US" sz="7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advClick="0" advTm="5000">
    <p:cover dir="r"/>
  </p:transition>
</p:sld>
</file>

<file path=ppt/theme/theme1.xml><?xml version="1.0" encoding="utf-8"?>
<a:theme xmlns:a="http://schemas.openxmlformats.org/drawingml/2006/main" name="Theme83">
  <a:themeElements>
    <a:clrScheme name="Theme8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83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83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shade val="51%"/>
                <a:satMod val="130%"/>
              </a:schemeClr>
            </a:gs>
            <a:gs pos="80%">
              <a:schemeClr val="phClr">
                <a:shade val="93%"/>
                <a:satMod val="130%"/>
              </a:schemeClr>
            </a:gs>
            <a:gs pos="100%">
              <a:schemeClr val="phClr">
                <a:shade val="94%"/>
                <a:satMod val="135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b="180%" l="50%" r="50%" t="-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b="50%" l="50%" r="50%" t="50%"/>
          </a:path>
        </a:gradFill>
      </a:bgFillStyleLst>
    </a:fmtScheme>
  </a:themeElements>
  <a:objectDefaults/>
  <a:extraClrSchemeLst/>
</a:theme>
</file>