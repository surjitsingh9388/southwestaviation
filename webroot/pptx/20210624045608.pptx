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</p:sldIdLst>
  <p:sldSz cx="12192000" cy="6667500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presProps" Target="presProps.xml"/>
  <Relationship Id="rId8" Type="http://schemas.openxmlformats.org/officeDocument/2006/relationships/viewProps" Target="viewProps.xml"/>
  <Relationship Id="rId9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313544841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24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logo1.png"/>
  <Relationship Id="rId3" Type="http://schemas.openxmlformats.org/officeDocument/2006/relationships/image" Target="../media/background_0.jpg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95250" y="5715000"/>
          <a:ext cx="3905250" cy="6667500"/>
          <a:chOff x="95250" y="5715000"/>
          <a:chExt cx="3905250" cy="6667500"/>
        </a:xfrm>
      </p:grpSpPr>
      <p:pic>
        <p:nvPicPr>
          <p:cNvPr id="1" name="SWAS Logo" descr="SWAS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" y="5715000"/>
            <a:ext cx="3810000" cy="952500"/>
          </a:xfrm>
          <a:prstGeom prst="rect">
            <a:avLst/>
          </a:prstGeom>
          <a:effectLst>
            <a:outerShdw blurRad="57150" dist="95250" dir="2700000" algn="br" rotWithShape="0">
              <a:srgbClr val="000000">
                <a:alpha val="50%"/>
              </a:srgbClr>
            </a:outerShdw>
          </a:effectLst>
        </p:spPr>
      </p:pic>
    </p:spTree>
  </p:cSld>
  <p:clrMapOvr>
    <a:masterClrMapping/>
  </p:clrMapOvr>
  <p:transition advClick="0" advTm="5000">
    <p:cover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42875" y="142875"/>
          <a:ext cx="12001500" cy="2047875"/>
          <a:chOff x="142875" y="142875"/>
          <a:chExt cx="12001500" cy="2047875"/>
        </a:xfrm>
      </p:grpSpPr>
      <p:graphicFrame>
        <p:nvGraphicFramePr>
          <p:cNvPr id="1" name="" descr=""/>
          <p:cNvGraphicFramePr>
            <a:graphicFrameLocks noGrp="1"/>
          </p:cNvGraphicFramePr>
          <p:nvPr/>
        </p:nvGraphicFramePr>
        <p:xfrm>
          <a:off x="142875" y="142875"/>
          <a:ext cx="11858625" cy="1905000"/>
        </p:xfrm>
        <a:graphic>
          <a:graphicData uri="http://schemas.openxmlformats.org/drawingml/2006/table">
            <a:tbl>
              <a:tblPr firstRow="1" bandRow="1"/>
              <a:tblGrid>
                <a:gridCol w="952500"/>
                <a:gridCol w="762000"/>
                <a:gridCol w="1333500"/>
                <a:gridCol w="3476625"/>
                <a:gridCol w="1143000"/>
                <a:gridCol w="1000125"/>
                <a:gridCol w="1000125"/>
                <a:gridCol w="1143000"/>
                <a:gridCol w="1047750"/>
              </a:tblGrid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 gridSpan="9">
                  <a:txBody>
                    <a:bodyPr wrap="square" rtlCol="0">
                      <a:spAutoFit/>
                    </a:bodyPr>
                    <a:lstStyle/>
                    <a:p>
                      <a:pPr algn="ctr" fontAlgn="ctr" marL="0" marR="0" indent="0" lvl="0">
                        <a:lnSpc>
                          <a:spcPct val="100%"/>
                        </a:lnSpc>
                      </a:pPr>
                      <a:r>
                        <a:rPr lang="en-US" b="1" sz="13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OVER DUE, CURRENT DUE AND PROJECTED DUE]]></a:t>
                      </a:r>
                    </a:p>
                  </a:txBody>
                  <a:tcPr anchor="ctr" marL="0" marR="0" marT="76200" marB="7620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ad40e">
                        <a:alpha val="91.76%"/>
                      </a:srgbClr>
                    </a:solidFill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IRCRAFT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57150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FERENCE]]></a:t>
                      </a:r>
                    </a:p>
                  </a:txBody>
                  <a:tcPr anchor="ctr" marL="57150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ESCRIPTION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COMPLIANC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INTERVAL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TOLERANC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EXT DU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MAINING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10-00.21-51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FREON AIR CONDITIONING SYSTEM CONDENSER/COMPRESSOR ELECTRICAL MOTOR - INSPECT BRUSHES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8/06/2019 Hours: 6365.4 Cycles: 499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965.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25.6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10-00.24-3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LT STARTER/GENERATOR - LEAR SIEGLER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2/29/2015 Hours: 5912.5 Cycles: 461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10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912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d35400">
                              <a:alpha val="82.75%"/>
                            </a:srgbClr>
                          </a:solidFill>
                          <a:latin typeface="Calibri"/>
                        </a:rPr>
                        <a:t><![CDATA[Hours: -27.3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10-00.24-31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AIN BATTERY - CONCORDE - CAPACITY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2/10/2020 Hours: 6730.5 Cycles: 5329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-Jun-20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Days: 6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7-5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T OUTBOARD FLAP TRANSMISSION SHAFT #5 - FUNCTIONAL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2/29/2015 Hours: 5912.5 Cycles: 461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0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1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963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23.7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7-5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T OUTBOARD FLAP TRANSMISSION SHAFT #6 - FUNCTIONAL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2/29/2015 Hours: 5912.5 Cycles: 461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0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1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963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23.7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7-5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LT OUTBOARD FLAP TRANSMISSION SHAFT #5 - FUNCTIONAL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2/29/2015 Hours: 5912.5 Cycles: 461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0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1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963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23.7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7-5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LT OUTBOARD FLAP TRANSMISSION SHAFT #6 - FUNCTIONAL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2/29/2015 Hours: 5912.5 Cycles: 461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0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1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963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23.7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7-2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UDDER CONTROL SYSTEM - INSPECT THE CABLES PASSAGES THROUGH THE REAR PRESSURIZED BULKHEAD SECTIONS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2/29/2015 Hours: 5912.5 Cycles: 461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1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1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7112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72.7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7-2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UDDER CONTROL SYSTEM - INSPECT THE ATTACHMENT OF THE CABLES TO THE COCKPIT SECTORS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2/29/2015 Hours: 5912.5 Cycles: 461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1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1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7112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72.7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advClick="0" advTm="5000">
    <p:cover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42875" y="142875"/>
          <a:ext cx="12001500" cy="2047875"/>
          <a:chOff x="142875" y="142875"/>
          <a:chExt cx="12001500" cy="2047875"/>
        </a:xfrm>
      </p:grpSpPr>
      <p:graphicFrame>
        <p:nvGraphicFramePr>
          <p:cNvPr id="1" name="" descr=""/>
          <p:cNvGraphicFramePr>
            <a:graphicFrameLocks noGrp="1"/>
          </p:cNvGraphicFramePr>
          <p:nvPr/>
        </p:nvGraphicFramePr>
        <p:xfrm>
          <a:off x="142875" y="142875"/>
          <a:ext cx="11858625" cy="1905000"/>
        </p:xfrm>
        <a:graphic>
          <a:graphicData uri="http://schemas.openxmlformats.org/drawingml/2006/table">
            <a:tbl>
              <a:tblPr firstRow="1" bandRow="1"/>
              <a:tblGrid>
                <a:gridCol w="952500"/>
                <a:gridCol w="762000"/>
                <a:gridCol w="1333500"/>
                <a:gridCol w="3476625"/>
                <a:gridCol w="1143000"/>
                <a:gridCol w="1000125"/>
                <a:gridCol w="1000125"/>
                <a:gridCol w="1143000"/>
                <a:gridCol w="1047750"/>
              </a:tblGrid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 gridSpan="9">
                  <a:txBody>
                    <a:bodyPr wrap="square" rtlCol="0">
                      <a:spAutoFit/>
                    </a:bodyPr>
                    <a:lstStyle/>
                    <a:p>
                      <a:pPr algn="ctr" fontAlgn="ctr" marL="0" marR="0" indent="0" lvl="0">
                        <a:lnSpc>
                          <a:spcPct val="100%"/>
                        </a:lnSpc>
                      </a:pPr>
                      <a:r>
                        <a:rPr lang="en-US" b="1" sz="13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OVER DUE, CURRENT DUE AND PROJECTED DUE]]></a:t>
                      </a:r>
                    </a:p>
                  </a:txBody>
                  <a:tcPr anchor="ctr" marL="0" marR="0" marT="76200" marB="7620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ad40e">
                        <a:alpha val="91.76%"/>
                      </a:srgbClr>
                    </a:solidFill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IRCRAFT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57150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FERENCE]]></a:t>
                      </a:r>
                    </a:p>
                  </a:txBody>
                  <a:tcPr anchor="ctr" marL="57150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ESCRIPTION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COMPLIANC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INTERVAL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TOLERANC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EXT DU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MAINING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7-1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ILERON CONTROL SYSTEM - CHECK PLAY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2/19/2015 Hours: 5912.5 Cycles: 461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1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1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7112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72.7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7-1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ILERON CONTROL SYSTEM - INSPECT THE ATTACHMENT OF THE CABLES TO THE COCKPIT SECTORS (CONTROL WHEELS). INSPECT THE CABLES PASSAGES THROUGH THE REAR PRESSURIZED BULKHEAD SECTIONS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1/30/2010 Hours: 5912.5 Cycles: 461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1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1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7112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72.7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10-00.28-2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T STANDBY FUEL BOOSTER PUMP - PARKER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9/2020 Hours: 5218.3 Cycles: 517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30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7097.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57.3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10-00.30-1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T WING A/I PROTECTION VALVES - BARBER COLEMA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9/2020 Hours: 6497.1 Cycles: 517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30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7021.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81.3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32-0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LANDING GEAR - LUBRICATE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1/20/2020 Hours: 6701.5 Cycles: 531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Cycles: 18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30 Cycles: 1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-Nov-2021 Cycles: 549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Months: 5 ]]></a:t>
                      </a:r>
                      <a:r>
                        <a:rPr lang="en-US" sz="10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Days: 6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Cycles: 1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FAR 91.34-61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GPS/FMS DATABASE UPDATE IAW AC90-1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/19/20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2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6-Jun-20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Days: -8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6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10-00.61-2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LT PROPELLER OVERSPEED GOVERNOR - WOODWARD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9/2020 Hours: 6496.6 Cycles: 517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5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7090.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51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6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61-1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PROPELLERS - LUBRICATE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26/2021 Hours: 6818.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15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30 Hours: 1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1-Mar-2022 Hours: 6968.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Months: 9 ]]></a:t>
                      </a:r>
                      <a:r>
                        <a:rPr lang="en-US" sz="10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Days: 7 ]]></a:t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28.9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D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D-2017-20-13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CURRENT 200 FH Flight Control Tap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8/20/2019 Hours: 6384.2 Cycles: 5013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984.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44.4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D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D-2014-09-04 PART A2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Steering Manifold - Leakage Test RECURRENT Part A2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26/2021 Hours: 6818.7 Cycles: 539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16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983.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43.9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advClick="0" advTm="5000">
    <p:cover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42875" y="142875"/>
          <a:ext cx="12001500" cy="2047875"/>
          <a:chOff x="142875" y="142875"/>
          <a:chExt cx="12001500" cy="2047875"/>
        </a:xfrm>
      </p:grpSpPr>
      <p:graphicFrame>
        <p:nvGraphicFramePr>
          <p:cNvPr id="1" name="" descr=""/>
          <p:cNvGraphicFramePr>
            <a:graphicFrameLocks noGrp="1"/>
          </p:cNvGraphicFramePr>
          <p:nvPr/>
        </p:nvGraphicFramePr>
        <p:xfrm>
          <a:off x="142875" y="142875"/>
          <a:ext cx="11858625" cy="1905000"/>
        </p:xfrm>
        <a:graphic>
          <a:graphicData uri="http://schemas.openxmlformats.org/drawingml/2006/table">
            <a:tbl>
              <a:tblPr firstRow="1" bandRow="1"/>
              <a:tblGrid>
                <a:gridCol w="952500"/>
                <a:gridCol w="762000"/>
                <a:gridCol w="1333500"/>
                <a:gridCol w="3476625"/>
                <a:gridCol w="1143000"/>
                <a:gridCol w="1000125"/>
                <a:gridCol w="1000125"/>
                <a:gridCol w="1143000"/>
                <a:gridCol w="1047750"/>
              </a:tblGrid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 gridSpan="9">
                  <a:txBody>
                    <a:bodyPr wrap="square" rtlCol="0">
                      <a:spAutoFit/>
                    </a:bodyPr>
                    <a:lstStyle/>
                    <a:p>
                      <a:pPr algn="ctr" fontAlgn="ctr" marL="0" marR="0" indent="0" lvl="0">
                        <a:lnSpc>
                          <a:spcPct val="100%"/>
                        </a:lnSpc>
                      </a:pPr>
                      <a:r>
                        <a:rPr lang="en-US" b="1" sz="13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OVER DUE, CURRENT DUE AND PROJECTED DUE]]></a:t>
                      </a:r>
                    </a:p>
                  </a:txBody>
                  <a:tcPr anchor="ctr" marL="0" marR="0" marT="76200" marB="7620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ad40e">
                        <a:alpha val="91.76%"/>
                      </a:srgbClr>
                    </a:solidFill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IRCRAFT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57150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FERENCE]]></a:t>
                      </a:r>
                    </a:p>
                  </a:txBody>
                  <a:tcPr anchor="ctr" marL="57150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ESCRIPTION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COMPLIANC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INTERVAL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TOLERANC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EXT DU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MAINING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SB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SB-80-0457 R1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P180 Avanti II (SAFRAN LG): TAT Probe Heater Inhibition on Ground.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4/30/2019 Hours: 6755.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24 Hours: 66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-Apr-2021 Hours: 7415.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d35400">
                              <a:alpha val="82.75%"/>
                            </a:srgbClr>
                          </a:solidFill>
                          <a:latin typeface="Calibri"/>
                        </a:rPr>
                        <a:t><![CDATA[Months: -1 ]]></a:t>
                      </a:r>
                      <a:r>
                        <a:rPr lang="en-US" sz="1000" spc="0" u="none">
                          <a:solidFill>
                            <a:srgbClr val="d35400">
                              <a:alpha val="82.75%"/>
                            </a:srgbClr>
                          </a:solidFill>
                          <a:latin typeface="Calibri"/>
                        </a:rPr>
                        <a:t><![CDATA[Days: -25 ]]></a:t>
                      </a:r>
                      <a:r>
                        <a:rPr lang="en-US" sz="10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Hours: 475.3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SB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SB-80-0455 R2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CURRENT 200 FH Flight Control Tap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8/20/2019 Hours: 6384.2 Cycles: 5013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984.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44.4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SB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SB-80-0249 R3 PART A2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Steering Manifold - Leakage Test, RECURRENT Part A2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26/2021 Hours: 6818.7 Cycles: 539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16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983.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43.9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advClick="0" advTm="5000">
    <p:cover dir="r"/>
  </p:transition>
</p:sld>
</file>

<file path=ppt/theme/theme1.xml><?xml version="1.0" encoding="utf-8"?>
<a:theme xmlns:a="http://schemas.openxmlformats.org/drawingml/2006/main" name="Theme27">
  <a:themeElements>
    <a:clrScheme name="Theme2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27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27">
      <a:fillStyleLst>
        <a:solidFill>
          <a:schemeClr val="phClr"/>
        </a:solidFill>
        <a:gradFill rotWithShape="1">
          <a:gsLst>
            <a:gs pos="0%">
              <a:schemeClr val="phClr">
                <a:tint val="50%"/>
                <a:satMod val="300%"/>
              </a:schemeClr>
            </a:gs>
            <a:gs pos="35%">
              <a:schemeClr val="phClr">
                <a:tint val="37%"/>
                <a:satMod val="300%"/>
              </a:schemeClr>
            </a:gs>
            <a:gs pos="100%">
              <a:schemeClr val="phClr">
                <a:tint val="15%"/>
                <a:satMod val="350%"/>
              </a:schemeClr>
            </a:gs>
          </a:gsLst>
          <a:lin ang="16200000" scaled="1"/>
        </a:gradFill>
        <a:gradFill rotWithShape="1">
          <a:gsLst>
            <a:gs pos="0%">
              <a:schemeClr val="phClr">
                <a:shade val="51%"/>
                <a:satMod val="130%"/>
              </a:schemeClr>
            </a:gs>
            <a:gs pos="80%">
              <a:schemeClr val="phClr">
                <a:shade val="93%"/>
                <a:satMod val="130%"/>
              </a:schemeClr>
            </a:gs>
            <a:gs pos="100%">
              <a:schemeClr val="phClr">
                <a:shade val="94%"/>
                <a:satMod val="135%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%"/>
              <a:satMod val="105%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%">
              <a:schemeClr val="phClr">
                <a:tint val="40%"/>
                <a:satMod val="350%"/>
              </a:schemeClr>
            </a:gs>
            <a:gs pos="40%">
              <a:schemeClr val="phClr">
                <a:tint val="45%"/>
                <a:shade val="99%"/>
                <a:satMod val="350%"/>
              </a:schemeClr>
            </a:gs>
            <a:gs pos="100%">
              <a:schemeClr val="phClr">
                <a:shade val="20%"/>
                <a:satMod val="255%"/>
              </a:schemeClr>
            </a:gs>
          </a:gsLst>
          <a:path path="circle">
            <a:fillToRect b="180%" l="50%" r="50%" t="-80%"/>
          </a:path>
        </a:gradFill>
        <a:gradFill rotWithShape="1">
          <a:gsLst>
            <a:gs pos="0%">
              <a:schemeClr val="phClr">
                <a:tint val="80%"/>
                <a:satMod val="300%"/>
              </a:schemeClr>
            </a:gs>
            <a:gs pos="100%">
              <a:schemeClr val="phClr">
                <a:shade val="30%"/>
                <a:satMod val="200%"/>
              </a:schemeClr>
            </a:gs>
          </a:gsLst>
          <a:path path="circle">
            <a:fillToRect b="50%" l="50%" r="50%" t="50%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4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Microsoft Corporation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Unknown Creator</dc:creator>
  <cp:lastModifiedBy>Unknown Creator</cp:lastModifiedBy>
  <dcterms:created xsi:type="dcterms:W3CDTF">2021-06-24T09:56:08Z</dcterms:created>
  <dcterms:modified xsi:type="dcterms:W3CDTF">2021-06-24T09:56:08Z</dcterms:modified>
  <dc:title>Untitled Presentation</dc:title>
  <dc:description/>
  <dc:subject/>
  <cp:keywords/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