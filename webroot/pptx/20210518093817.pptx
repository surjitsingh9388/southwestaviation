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  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9144000" cy="6858000" type="screen4x3"/>
  <p:notesSz cx="6858000" cy="9144000"/>
  <p:defaultTextStyle>
    <a:defPPr>
      <a:defRPr lang="fr-FR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 lastView="sldView">
  <p:slideViewPr>
    <p:cSldViewPr>
      <p:cViewPr>
        <p:scale>
          <a:sx d="100" n="100"/>
          <a:sy d="100" n="100"/>
        </p:scale>
        <p:origin x="0" y="0"/>
      </p:cViewPr>
    </p:cSldViewPr>
  </p:slideViewPr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  <Relationship Id="rId5" Type="http://schemas.openxmlformats.org/officeDocument/2006/relationships/slide" Target="slides/slide3.xml"/>
  <Relationship Id="rId6" Type="http://schemas.openxmlformats.org/officeDocument/2006/relationships/slide" Target="slides/slide4.xml"/>
  <Relationship Id="rId7" Type="http://schemas.openxmlformats.org/officeDocument/2006/relationships/slide" Target="slides/slide5.xml"/>
  <Relationship Id="rId8" Type="http://schemas.openxmlformats.org/officeDocument/2006/relationships/slide" Target="slides/slide6.xml"/>
  <Relationship Id="rId9" Type="http://schemas.openxmlformats.org/officeDocument/2006/relationships/slide" Target="slides/slide7.xml"/>
  <Relationship Id="rId10" Type="http://schemas.openxmlformats.org/officeDocument/2006/relationships/slide" Target="slides/slide8.xml"/>
  <Relationship Id="rId11" Type="http://schemas.openxmlformats.org/officeDocument/2006/relationships/presProps" Target="presProps.xml"/>
  <Relationship Id="rId12" Type="http://schemas.openxmlformats.org/officeDocument/2006/relationships/viewProps" Target="viewProps.xml"/>
  <Relationship Id="rId13" Type="http://schemas.openxmlformats.org/officeDocument/2006/relationships/tableStyles" Target="tableStyles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310364970" r:id="rId1"/>
  </p:sldLayoutIdLst>
  <p:txStyles>
    <p:titleStyle>
      <a:lvl1pPr algn="ctr">
        <a:defRPr sz="4400" kern="1200">
          <a:solidFill>
            <a:schemeClr val="lt1"/>
          </a:solidFill>
        </a:defRPr>
      </a:lvl1pPr>
      <a:extLst/>
    </p:titleStyle>
    <p:bodyStyle>
      <a:lvl1pPr algn="ctr" indent="-324900">
        <a:defRPr sz="3200" kern="1200">
          <a:solidFill>
            <a:schemeClr val="tx1"/>
          </a:solidFill>
        </a:defRPr>
      </a:lvl1pPr>
      <a:extLst/>
    </p:bodyStyle>
    <p:otherStyle>
      <a:defPPr algn="ctr">
        <a:defRPr kern="1200">
          <a:solidFill>
            <a:schemeClr val="tx1"/>
          </a:solidFill>
        </a:defRPr>
      </a:defPPr>
      <a:extLst/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logo1.png"/>
  <Relationship Id="rId3" Type="http://schemas.openxmlformats.org/officeDocument/2006/relationships/image" Target="../media/background_0.jpg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95250" y="5715000"/>
          <a:ext cx="3905250" cy="6667500"/>
          <a:chOff x="95250" y="5715000"/>
          <a:chExt cx="3905250" cy="6667500"/>
        </a:xfrm>
      </p:grpSpPr>
      <p:pic>
        <p:nvPicPr>
          <p:cNvPr id="1" name="SWAS Logo" descr="SWA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" y="5715000"/>
            <a:ext cx="3810000" cy="952500"/>
          </a:xfrm>
          <a:prstGeom prst="rect">
            <a:avLst/>
          </a:prstGeom>
          <a:effectLst>
            <a:outerShdw blurRad="57150" dist="95250" dir="2700000" algn="br" rotWithShape="0">
              <a:srgbClr val="000000">
                <a:alpha val="50%"/>
              </a:srgbClr>
            </a:outerShdw>
          </a:effectLst>
        </p:spPr>
      </p:pic>
    </p:spTree>
  </p:cSld>
  <p:clrMapOvr>
    <a:masterClrMapping/>
  </p:clrMapOvr>
  <p:transition advClick="0" advTm="5000">
    <p:cover dir="r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8953500" cy="2047875"/>
          <a:chOff x="142875" y="142875"/>
          <a:chExt cx="8953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8810625" cy="1905000"/>
        </p:xfrm>
        <a:graphic>
          <a:graphicData uri="http://schemas.openxmlformats.org/drawingml/2006/table">
            <a:tbl>
              <a:tblPr firstRow="1" bandRow="1"/>
              <a:tblGrid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</a:tblGrid>
              <a:tr h="361950">
                <a:tc gridSpan="10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2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, COMPONENT & ITEM TYP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SN/TSO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M GROUP Airframe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M GROUP COMPLIANC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y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13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a Airframe INSPECTION DISP:5-2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"A" 200 FH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Day VOR Check Airframe INSPECTION DISP:FAR 91.171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DAY VOR CHECK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4/04/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4-May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Days: -1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1-20-00 Airframe INSPECTION DISP:OPERATIONAL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CKPIT BLOWER - OPERA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6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y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13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4-30-00 Airframe INSPECTION DISP:OVERHAUL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STARTER/GENERATOR - LEAR SIEGLER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34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4-3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STARTER BRUSH, BRUSH HOLDERS, AND SPRINGS - INSPECT FOR GENERAL CONDI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6497.1 Cycles: 517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97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4-30-00 Airframe INSPECTION DISP:OVERHAUL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STARTER/GENERATOR - LEAR SIEGLER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34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4-3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TARTER/GENERATOR AIR COOLING DUCTS - INSPECT FOR GENERAL CONDITION, PRESENCE OF KINK, DAMAGES AND OBSTUCTIONS. INSPECT THE COOLING DUCTS FOR PROPER INSTALLA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4-3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STARTER BRUSHES, BRUSH HOLDERS, AND SPRINGS - INSPECT FOR GENERAL CONDI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6497.1 Cycles: 517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97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8953500" cy="2047875"/>
          <a:chOff x="142875" y="142875"/>
          <a:chExt cx="8953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8810625" cy="1905000"/>
        </p:xfrm>
        <a:graphic>
          <a:graphicData uri="http://schemas.openxmlformats.org/drawingml/2006/table">
            <a:tbl>
              <a:tblPr firstRow="1" bandRow="1"/>
              <a:tblGrid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</a:tblGrid>
              <a:tr h="361950">
                <a:tc gridSpan="10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2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, COMPONENT & ITEM TYP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SN/TSO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4-31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AIN BATTERY - INSPECT GROUNDING CONNECTION. INSPECT PLATE AND BAY FOR CORROS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6-2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PORTABLE FIRE EXTINGUISHER - VISUAL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40-00 Airframe INSPECTION DISP:OPERA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RIZONTAL STABILIZER TRIM SYSTEM - OPERA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 Airframe INSPECTION DISP:LUBRICA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BOARD FLAP SCREWJACKS - LUBRICAT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6497.1 Cycles: 517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97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 Airframe INSPECTION DISP: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OUTBOARD FLAP TRANSMISSION SHAFT #5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85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 Airframe INSPECTION DISP: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OUTBOARD FLAP TRANSMISSION SHAFT #6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85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 Airframe INSPECTION DISP: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OUTBOARD FLAP TRANSMISSION SHAFT #5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85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 Airframe INSPECTION DISP: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OUTBOARD FLAP TRANSMISSION SHAFT #6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85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3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TALL WARNING - INSPECT FOR SLOT CLEANLINESS AND FREEDOM OF MOVEMENT OF THE ANGLE OF ATTACK TRANSMITTER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30-00 Airframe INSPECTION DISP:OPERA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TALL WARNING - OPERA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8953500" cy="2047875"/>
          <a:chOff x="142875" y="142875"/>
          <a:chExt cx="8953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8810625" cy="1905000"/>
        </p:xfrm>
        <a:graphic>
          <a:graphicData uri="http://schemas.openxmlformats.org/drawingml/2006/table">
            <a:tbl>
              <a:tblPr firstRow="1" bandRow="1"/>
              <a:tblGrid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</a:tblGrid>
              <a:tr h="361950">
                <a:tc gridSpan="10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2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, COMPONENT & ITEM TYP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SN/TSO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9-1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YDRAULIC PRESSURIZATION LINES - INSPECT FITTINGS AND THE 4-WAY CONNECTOR FOR SECURITY OF INSTALLATION. REMOVE AND CLEAN RELIEF VALVE, CHECK VALVE AND ORIFICE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30-10-00 Airframe INSPECTION DISP:OVERHAUL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WING A/I PROTECTION VALVES - BARBER COLEMA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6497.1 Cycles: 517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3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021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43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0-2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ACELLES INERTIAL SEPARATOR VANES - VISUAL INSPECTION OF ALL HONEYCOMB BASED STRUCTURES/PANEL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2-00-00 Airframe INSPECTION DISP:OPERA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ANDING GEAR - OPERATIONAL TEST INCLUDING HAND PUMP GEAR EXS CHECK FOR PROPER OPERA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32-50-00 Airframe INSPECTION DISP:LIFE LIMI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TEERING FILTER - FACET ENTERPRISE - REPLACE FILTER ELEMEN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34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2-4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IRES - INSPECT FOR WEAR, CUTS, INFLATION, CLENLINESS, AND EVIDENCE OF DAMAG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2-1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AIN LANDING GEAR (MLG) STRUTS - CHECK NITROGEN PRESSUR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2-41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AIN LANDING GEAR (MLG) WHEELS - INSPECT FOR GENERAL CONDITION AND SECURITY OF INSTALLA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2-2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OSE LANDING GEAR (NLG) STRUT - CHECK NITROGEN PRESSUR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2-41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OSE LANDING GEAR (NLG) WHEELS - INSPECT FOR GENERAL CONDITION AND SECURITY OF INSTALLA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8953500" cy="2047875"/>
          <a:chOff x="142875" y="142875"/>
          <a:chExt cx="8953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8810625" cy="1905000"/>
        </p:xfrm>
        <a:graphic>
          <a:graphicData uri="http://schemas.openxmlformats.org/drawingml/2006/table">
            <a:tbl>
              <a:tblPr firstRow="1" bandRow="1"/>
              <a:tblGrid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</a:tblGrid>
              <a:tr h="361950">
                <a:tc gridSpan="10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2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, COMPONENT & ITEM TYP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SN/TSO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3-00-00 Airframe INSPECTION DISP:OPERA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XTERNAL LIGHTS - OPERA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AR 91.34-61-00 Airframe INSPECTION DISP:AS REQUIRED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GPS/FMS DATABASE UPDATE IAW AC90-1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4/21/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9-May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1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6-11-00 Airframe INSPECTION DISP:DRAI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ABIN DOOR SEAL INFLATING SYSTEM - DRAI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5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51-0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USELAGE - CHECK THE FUSELAGE EXTERNAL DRAIN POINTS AND DRAIN THE BELLY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6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y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13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5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55-0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RIZONTAL STABILIZER ASSEMBLY - VISUAL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5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55-2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LEVATOR - VISUAL INSPECTION FOR GENERAL CONDI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5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57-4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WING LEADING EDGES (POLISHED) - VISUAL EXTERNAL INSPECTION SURFACE FOR CORROSION/OXIDATION AND GENERAL CONDI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61-1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PROPELLERS - INSPECT FOR GENERAL CONDI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1-2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NGINE MOUNTS AND VIBRATION ISOLATORS - INSPECT ENGINES MOUNTS CRADLE AND THE VIBRATION ISOLATOR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1-2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NGINE MOUNT ELECTRICAL BONDING CONNECTIONS - INSPECT THE ENGINES MOUNTS ELECTRICAL BONDING FOR DAMAGE, SECURITY OF INSTALLATION, AND AABSENCE OF CORROS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Hours: 6901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2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8953500" cy="2047875"/>
          <a:chOff x="142875" y="142875"/>
          <a:chExt cx="8953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8810625" cy="1905000"/>
        </p:xfrm>
        <a:graphic>
          <a:graphicData uri="http://schemas.openxmlformats.org/drawingml/2006/table">
            <a:tbl>
              <a:tblPr firstRow="1" bandRow="1"/>
              <a:tblGrid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</a:tblGrid>
              <a:tr h="361950">
                <a:tc gridSpan="10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2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, COMPONENT & ITEM TYP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SN/TSO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2-00-00 Engine 1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MINOR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44.4 Cycles: 739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9367.8 Cycles: 727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67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2-00-00 Engine 1 INSPECTION DISP:BORESCOP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PERIODIC BORESCOPE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44.4 Cycles: 739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9163.6 Cycles: 714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63.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2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5-10-00.72-00-00 Engine 2 INSPECTION DISP:HSI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HOT SECTION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00.6 Cycles: 74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2/23/2017 Hours: 8655.2 Cycles: 66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37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2-00-00 Engine 2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POWER TURBINE BLADES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00.6 Cycles: 74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9424 Cycles: 731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2-00-00 Engine 2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MINOR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00.6 Cycles: 74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9424 Cycles: 731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2-00-00 Engine 2 INSPECTION DISP:BORESCOP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PERIODIC BORESCOPE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00.6 Cycles: 74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9219.8 Cycles: 718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19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2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72-00-00 Engine 1 INSPECTION DISP:HSI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HOT SECTION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44.4 Cycles: 739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2/23/2017 Hours: 8599 Cycles: 660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00.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Hours: -4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2-00-00 Engine 1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POWER TURBINE BLADE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44.4 Cycles: 739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9367.8 Cycles: 727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67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3-00-00 Engine 1 INSPECTION DISP: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FUEL NOZZLE LEAK AND FUNCTION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44.4 Cycles: 739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9163.6 Cycles: 714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63.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2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3-10-00 Engine 1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FUEL PUMP INLET SCREE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44.4 Cycles: 739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9367.8 Cycles: 727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67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8953500" cy="2047875"/>
          <a:chOff x="142875" y="142875"/>
          <a:chExt cx="8953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8810625" cy="1905000"/>
        </p:xfrm>
        <a:graphic>
          <a:graphicData uri="http://schemas.openxmlformats.org/drawingml/2006/table">
            <a:tbl>
              <a:tblPr firstRow="1" bandRow="1"/>
              <a:tblGrid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</a:tblGrid>
              <a:tr h="361950">
                <a:tc gridSpan="10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2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, COMPONENT & ITEM TYP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SN/TSO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3-10-00 Engine 1 INSPECTION DISP:LIFE LIMI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FUEL PUMP OUTLET FILTER - REPLACEMEN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44.4 Cycles: 739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9367.8 Cycles: 727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67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73-10-00 Engine 1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P3 FILTER CLEAN OR REPLAC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44.4 Cycles: 739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27/2018 Hours: 8680 Cycles: 666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8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35.6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3-10-07 Engine 1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P3 FILTER CLEAN AND 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44.4 Cycles: 739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9367.8 Cycles: 727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67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3-00-00 Engine 2 INSPECTION DISP: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FUEL NOZZLE LEAK AND FUNCTION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00.6 Cycles: 74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9219.8 Cycles: 718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19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2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3-10-00 Engine 2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FUEL PUMP INLET SCREEN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00.6 Cycles: 74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9424 Cycles: 731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3-10-07 Engine 2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P3 FILTER CLEAN AND 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00.6 Cycles: 74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9424 Cycles: 731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73-10-00 Engine 2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P3 FILTER CLEAN OR REPLAC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00.6 Cycles: 74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4/25/2013 Hours: 8736.2 Cycles: 666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736.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35.6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3-10-00 Engine 2 INSPECTION DISP:LIFE LIMI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FUEL PUMP OUTLET FILTER REPLACEMEN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00.6 Cycles: 74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9424 Cycles: 731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4-10-00 Engine 1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IB & OB SPARK IGNITER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44.4 Cycles: 739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9163.6 Cycles: 714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63.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2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4-10-00 Engine 1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IB & OB IGNITION CABLE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44.4 Cycles: 739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9163.6 Cycles: 714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63.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2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8953500" cy="2047875"/>
          <a:chOff x="142875" y="142875"/>
          <a:chExt cx="8953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8810625" cy="1905000"/>
        </p:xfrm>
        <a:graphic>
          <a:graphicData uri="http://schemas.openxmlformats.org/drawingml/2006/table">
            <a:tbl>
              <a:tblPr firstRow="1" bandRow="1"/>
              <a:tblGrid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</a:tblGrid>
              <a:tr h="361950">
                <a:tc gridSpan="10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2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, COMPONENT & ITEM TYP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SN/TSO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4-10-00 Engine 1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IGNITION EXCITER ASSEMBLY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44.4 Cycles: 739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9163.6 Cycles: 714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63.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2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4-10-00 Engine 2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IB & OB IGNITION CABLE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00.6 Cycles: 74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9219.8 Cycles: 718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19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2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4-10-00 Engine 2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IB & OB SPARK IGNITER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00.6 Cycles: 74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9219.8 Cycles: 718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19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2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4-10-00 Engine 2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IGNITION EXCITER ASSEMBLY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00.6 Cycles: 74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9219.8 Cycles: 718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19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.2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9-20-00 Engine 2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OIL FILTER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00.6 Cycles: 74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9424 Cycles: 731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9-00-00 Engine 2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OIL SCAVENGE PUMP INLET SCREEN - INSPECTION (LOW HUMIDITY)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00.6 Cycles: 74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2/23/2017 Hours: 8655.2 Cycles: 663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655.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54.6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9-20-00 Engine 1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OIL FILTER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44.4 Cycles: 739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9367.8 Cycles: 727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67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9-00-00 Engine 1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OIL SCAVENGE PUMP INLET SCREEN INSPECTION (LOW HUMIDITY)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44.4 Cycles: 739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2/23/2017 Hours: 8599 Cycles: 660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959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54.6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-80-0457 R1 Airframe SB - 8 DISP:OPE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P180 Avanti II (SAFRAN LG): TAT Probe Heater Inhibition on Ground.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4/30/2019 Hours: 6755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24 Hours: 6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Apr-2021 Hours: 7415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18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3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-80-0400 Airframe SB - 8 DISP:RECURRING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Part B  First Outboard Flap Control Rod Inspection - Part B - RECURRENT Inspection.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78.1 Cycles: 54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Cycles: 25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01.5 Cycles: 556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4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Cycles: 12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theme/theme1.xml><?xml version="1.0" encoding="utf-8"?>
<a:theme xmlns:a="http://schemas.openxmlformats.org/drawingml/2006/main" name="Theme61">
  <a:themeElements>
    <a:clrScheme name="Theme61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heme61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heme61">
      <a:fillStyleLst>
        <a:solidFill>
          <a:schemeClr val="phClr"/>
        </a:solidFill>
        <a:gradFill rotWithShape="1">
          <a:gsLst>
            <a:gs pos="0%">
              <a:schemeClr val="phClr">
                <a:tint val="50%"/>
                <a:satMod val="300%"/>
              </a:schemeClr>
            </a:gs>
            <a:gs pos="35%">
              <a:schemeClr val="phClr">
                <a:tint val="37%"/>
                <a:satMod val="300%"/>
              </a:schemeClr>
            </a:gs>
            <a:gs pos="100%">
              <a:schemeClr val="phClr">
                <a:tint val="15%"/>
                <a:satMod val="350%"/>
              </a:schemeClr>
            </a:gs>
          </a:gsLst>
          <a:lin ang="16200000" scaled="1"/>
        </a:gradFill>
        <a:gradFill rotWithShape="1">
          <a:gsLst>
            <a:gs pos="0%">
              <a:schemeClr val="phClr">
                <a:shade val="51%"/>
                <a:satMod val="130%"/>
              </a:schemeClr>
            </a:gs>
            <a:gs pos="80%">
              <a:schemeClr val="phClr">
                <a:shade val="93%"/>
                <a:satMod val="130%"/>
              </a:schemeClr>
            </a:gs>
            <a:gs pos="100%">
              <a:schemeClr val="phClr">
                <a:shade val="94%"/>
                <a:satMod val="135%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%"/>
              <a:satMod val="105%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r="5400000" dist="20000" rotWithShape="0">
              <a:srgbClr val="000000">
                <a:alpha val="38%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%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%"/>
              </a:srgbClr>
            </a:outerShdw>
          </a:effectLst>
          <a:scene3d>
            <a:camera prst="orthographicFront">
              <a:rot lat="0" lon="0" rev="0"/>
            </a:camera>
            <a:lightRig dir="t" rig="threePt">
              <a:rot lat="0" lon="0" rev="1200000"/>
            </a:lightRig>
          </a:scene3d>
          <a:sp3d>
            <a:bevelT h="25400" w="63500"/>
          </a:sp3d>
        </a:effectStyle>
      </a:effectStyleLst>
      <a:bgFillStyleLst>
        <a:solidFill>
          <a:schemeClr val="phClr"/>
        </a:solidFill>
        <a:gradFill rotWithShape="1">
          <a:gsLst>
            <a:gs pos="0%">
              <a:schemeClr val="phClr">
                <a:tint val="40%"/>
                <a:satMod val="350%"/>
              </a:schemeClr>
            </a:gs>
            <a:gs pos="40%">
              <a:schemeClr val="phClr">
                <a:tint val="45%"/>
                <a:shade val="99%"/>
                <a:satMod val="350%"/>
              </a:schemeClr>
            </a:gs>
            <a:gs pos="100%">
              <a:schemeClr val="phClr">
                <a:shade val="20%"/>
                <a:satMod val="255%"/>
              </a:schemeClr>
            </a:gs>
          </a:gsLst>
          <a:path path="circle">
            <a:fillToRect b="180%" l="50%" r="50%" t="-80%"/>
          </a:path>
        </a:gradFill>
        <a:gradFill rotWithShape="1">
          <a:gsLst>
            <a:gs pos="0%">
              <a:schemeClr val="phClr">
                <a:tint val="80%"/>
                <a:satMod val="300%"/>
              </a:schemeClr>
            </a:gs>
            <a:gs pos="100%">
              <a:schemeClr val="phClr">
                <a:shade val="30%"/>
                <a:satMod val="200%"/>
              </a:schemeClr>
            </a:gs>
          </a:gsLst>
          <a:path path="circle">
            <a:fillToRect b="50%" l="50%" r="50%" t="50%"/>
          </a:path>
        </a:gradFill>
      </a:bgFillStyleLst>
    </a:fmtScheme>
  </a:themeElements>
  <a:objectDefaults/>
  <a:extraClrSchemeLst/>
</a:theme>
</file>