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  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</p:sldIdLst>
  <p:sldSz cx="12192000" cy="6667500"/>
  <p:notesSz cx="6858000" cy="9144000"/>
  <p:defaultTextStyle>
    <a:defPPr>
      <a:defRPr lang="fr-FR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 lastView="sldView">
  <p:slideViewPr>
    <p:cSldViewPr>
      <p:cViewPr>
        <p:scale>
          <a:sx d="100" n="100"/>
          <a:sy d="100" n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presProps" Target="presProps.xml"/>
  <Relationship Id="rId8" Type="http://schemas.openxmlformats.org/officeDocument/2006/relationships/viewProps" Target="viewProps.xml"/>
  <Relationship Id="rId9" Type="http://schemas.openxmlformats.org/officeDocument/2006/relationships/tableStyles" Target="tableStyles.xml"/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313915397" r:id="rId1"/>
  </p:sldLayoutIdLst>
  <p:txStyles>
    <p:titleStyle>
      <a:lvl1pPr algn="ctr">
        <a:defRPr sz="4400" kern="1200">
          <a:solidFill>
            <a:schemeClr val="lt1"/>
          </a:solidFill>
        </a:defRPr>
      </a:lvl1pPr>
      <a:extLst/>
    </p:titleStyle>
    <p:bodyStyle>
      <a:lvl1pPr algn="ctr" indent="-324900">
        <a:defRPr sz="3200" kern="1200">
          <a:solidFill>
            <a:schemeClr val="tx1"/>
          </a:solidFill>
        </a:defRPr>
      </a:lvl1pPr>
      <a:extLst/>
    </p:bodyStyle>
    <p:otherStyle>
      <a:defPPr algn="ctr">
        <a:defRPr kern="1200">
          <a:solidFill>
            <a:schemeClr val="tx1"/>
          </a:solidFill>
        </a:defRPr>
      </a:defPPr>
      <a:extLst/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logo1.png"/>
  <Relationship Id="rId3" Type="http://schemas.openxmlformats.org/officeDocument/2006/relationships/image" Target="../media/background_0.jp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>
          <a:off x="95250" y="5715000"/>
          <a:ext cx="3905250" cy="6667500"/>
          <a:chOff x="95250" y="5715000"/>
          <a:chExt cx="3905250" cy="6667500"/>
        </a:xfrm>
      </p:grpSpPr>
      <p:pic>
        <p:nvPicPr>
          <p:cNvPr id="1" name="SWAS Logo" descr="SWA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" y="5715000"/>
            <a:ext cx="3810000" cy="952500"/>
          </a:xfrm>
          <a:prstGeom prst="rect">
            <a:avLst/>
          </a:prstGeom>
          <a:effectLst>
            <a:outerShdw blurRad="57150" dist="95250" dir="2700000" algn="br" rotWithShape="0">
              <a:srgbClr val="000000">
                <a:alpha val="50%"/>
              </a:srgbClr>
            </a:outerShdw>
          </a:effectLst>
        </p:spPr>
      </p:pic>
    </p:spTree>
  </p:cSld>
  <p:clrMapOvr>
    <a:masterClrMapping/>
  </p:clrMapOvr>
  <p:transition advClick="0" advTm="5000">
    <p:cover dir="r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DAY VOR CHECK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25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1-5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REON AIR CONDITIONING SYSTEM CONDENSER/COMPRESSOR ELECTRICAL MOTOR - INSPECT BRUSHE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06/2019 Hours: 6365.4 Cycles: 49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5.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0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STARTER/GENERATOR - LEAR SIEGL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Hours: -32.9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4-3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AIN BATTERY - CONCORDE - CAPACITY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0/2020 Hours: 6730.5 Cycles: 5329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6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5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5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OUTBOARD FLAP TRANSMISSION SHAFT #6 - FUNCTIONAL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63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8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UDDER CONTROL SYSTEM - INSPECT THE ATTACHMENT OF THE CABLES TO THE COCKPIT SECTOR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2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CHECK PLAY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2/19/2015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27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LERON CONTROL SYSTEM - INSPECT THE ATTACHMENT OF THE CABLES TO THE COCKPIT SECTORS (CONTROL WHEELS). INSPECT THE CABLES PASSAGES THROUGH THE REAR PRESSURIZED BULKHEAD SECTIONS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30/2010 Hours: 5912.5 Cycles: 46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112.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67.1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28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STANDBY FUEL BOOSTER PUMP - PARKER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5218.3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7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51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30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T WING A/I PROTECTION VALVES - BARBER COLEMAN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7.1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30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21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75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32-0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ANDING GEAR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1/20/2020 Hours: 6701.5 Cycles: 531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Cycles: 18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Cycles: 1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Nov-2021 Cycles: 549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5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Cycles: 1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4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FAR 91.34-61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GPS/FMS DATABASE UPDATE IAW AC90-1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/19/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16-Jun-202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40808">
                              <a:alpha val="95.69%"/>
                            </a:srgbClr>
                          </a:solidFill>
                          <a:latin typeface="Calibri"/>
                        </a:rPr>
                        <a:t><![CDATA[Days: -12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10-00.61-2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LT PROPELLER OVERSPEED GOVERNOR - WOODWARD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19/2020 Hours: 6496.6 Cycles: 517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5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7090.8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145.4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6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5-20-00.61-10-00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ROPELLERS - LUBRICATE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12 Hours: 15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30 Hours: 1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1-Mar-2022 Hours: 6968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Months: 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Days: 3 ]]></a:t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23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7-20-13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142875" y="142875"/>
          <a:ext cx="12001500" cy="2047875"/>
          <a:chOff x="142875" y="142875"/>
          <a:chExt cx="12001500" cy="2047875"/>
        </a:xfrm>
      </p:grpSpPr>
      <p:graphicFrame>
        <p:nvGraphicFramePr>
          <p:cNvPr id="1" name="" descr=""/>
          <p:cNvGraphicFramePr>
            <a:graphicFrameLocks noGrp="1"/>
          </p:cNvGraphicFramePr>
          <p:nvPr/>
        </p:nvGraphicFramePr>
        <p:xfrm>
          <a:off x="142875" y="142875"/>
          <a:ext cx="11858625" cy="1905000"/>
        </p:xfrm>
        <a:graphic>
          <a:graphicData uri="http://schemas.openxmlformats.org/drawingml/2006/table">
            <a:tbl>
              <a:tblPr firstRow="1" bandRow="1"/>
              <a:tblGrid>
                <a:gridCol w="952500"/>
                <a:gridCol w="762000"/>
                <a:gridCol w="1333500"/>
                <a:gridCol w="3476625"/>
                <a:gridCol w="1143000"/>
                <a:gridCol w="1000125"/>
                <a:gridCol w="1000125"/>
                <a:gridCol w="1143000"/>
                <a:gridCol w="1047750"/>
              </a:tblGrid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 gridSpan="9">
                  <a:txBody>
                    <a:bodyPr wrap="square" rtlCol="0">
                      <a:spAutoFit/>
                    </a:bodyPr>
                    <a:lstStyle/>
                    <a:p>
                      <a:pPr algn="ctr" fontAlgn="ctr" marL="0" marR="0" indent="0" lvl="0">
                        <a:lnSpc>
                          <a:spcPct val="100%"/>
                        </a:lnSpc>
                      </a:pPr>
                      <a:r>
                        <a:rPr lang="en-US" b="1" sz="13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OVER DUE, CURRENT DUE AND PROJECTED DUE]]></a:t>
                      </a:r>
                    </a:p>
                  </a:txBody>
                  <a:tcPr anchor="ctr" marL="0" marR="0" marT="76200" marB="7620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ead40e">
                        <a:alpha val="91.76%"/>
                      </a:srgbClr>
                    </a:solidFill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 hMerge="1">
                  <a:txBody>
                    <a:bodyPr wrap="square" rtlCol="0">
                      <a:spAutoFit/>
                    </a:bodyPr>
                    <a:lstStyle/>
                    <a:p>
                      <a:pPr algn="l" fontAlgn="base" marL="0" marR="0" indent="0" lvl="0">
                        <a:lnSpc>
                          <a:spcPct val="100%"/>
                        </a:lnSpc>
                      </a:pPr>
                    </a:p>
                  </a:txBody>
                  <a:tcPr marL="0" marR="0" marT="0" marB="0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IRCRAFT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TA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57150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FERENCE]]></a:t>
                      </a:r>
                    </a:p>
                  </a:txBody>
                  <a:tcPr anchor="ctr" marL="57150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ESCRIPTION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COMPLI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INTERVAL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TOLERANC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EXT DUE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b="1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MAINING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solidFill>
                      <a:srgbClr val="0dba32">
                        <a:alpha val="100.00%"/>
                      </a:srgbClr>
                    </a:solidFill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AD-2014-09-04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7 R1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P180 Avanti II (SAFRAN LG): TAT Probe Heater Inhibition on Ground.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4/30/2019 Hours: 675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Months: 24 Hours: 66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Days: 2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30-Apr-2021 Hours: 7415.1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Months: -1 ]]></a:t>
                      </a:r>
                      <a:r>
                        <a:rPr lang="en-US" sz="1000" spc="0" u="none">
                          <a:solidFill>
                            <a:srgbClr val="d35400">
                              <a:alpha val="82.75%"/>
                            </a:srgbClr>
                          </a:solidFill>
                          <a:latin typeface="Calibri"/>
                        </a:rPr>
                        <a:t><![CDATA[Days: -29 ]]></a:t>
                      </a:r>
                      <a:r>
                        <a:rPr lang="en-US" sz="1000" spc="0" u="none">
                          <a:solidFill>
                            <a:srgbClr val="036a03">
                              <a:alpha val="1.18%"/>
                            </a:srgbClr>
                          </a:solidFill>
                          <a:latin typeface="Calibri"/>
                        </a:rPr>
                        <a:t><![CDATA[Hours: 469.7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455 R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RECURRENT 200 FH Flight Control Tap Test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8/20/2019 Hours: 6384.2 Cycles: 5013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00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4.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8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  <a:tr h="361950"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N493JD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B-80-0249 R3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9525" marR="9525" indent="0" lvl="0">
                        <a:lnSpc>
                          <a:spcPct val="100%"/>
                        </a:lnSpc>
                      </a:pPr>
                      <a:r>
                        <a:rPr lang="en-US" sz="9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Steering Manifold - Leakage Test, RECURRENT Part A2]]></a:t>
                      </a:r>
                    </a:p>
                  </a:txBody>
                  <a:tcPr anchor="ctr" marL="9525" marR="9525" marT="9525" marB="95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03/26/2021 Hours: 6818.7 Cycles: 5392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165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00000">
                              <a:alpha val="100.00%"/>
                            </a:srgbClr>
                          </a:solidFill>
                          <a:latin typeface="Calibri"/>
                        </a:rPr>
                        <a:t><![CDATA[Hours: 6983.7 ]]></a:t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  <a:tc>
                  <a:txBody>
                    <a:bodyPr wrap="square" rtlCol="0">
                      <a:spAutoFit/>
                    </a:bodyPr>
                    <a:lstStyle/>
                    <a:p>
                      <a:pPr algn="ctr" fontAlgn="ctr" marL="47625" marR="47625" indent="0" lvl="0">
                        <a:lnSpc>
                          <a:spcPct val="100%"/>
                        </a:lnSpc>
                      </a:pP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  <a:r>
                        <a:rPr lang="en-US" sz="1000" spc="0" u="none">
                          <a:solidFill>
                            <a:srgbClr val="f39c12">
                              <a:alpha val="95.29%"/>
                            </a:srgbClr>
                          </a:solidFill>
                          <a:latin typeface="Calibri"/>
                        </a:rPr>
                        <a:t><![CDATA[Hours: 38.3 ]]></a:t>
                      </a:r>
                      <a:r>
                        <a:rPr lang="en-US" sz="1000" spc="0" u="none">
                          <a:solidFill>
                            <a:srgbClr val="036a03">
                              <a:alpha val="100.00%"/>
                            </a:srgbClr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7625" marR="47625" marT="47625" marB="47625">
                    <a:lnL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>
                          <a:alpha val="100.00%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lToBr>
                    <a:lnBlToT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advClick="0" advTm="5000">
    <p:cover dir="r"/>
  </p:transition>
</p:sld>
</file>

<file path=ppt/theme/theme1.xml><?xml version="1.0" encoding="utf-8"?>
<a:theme xmlns:a="http://schemas.openxmlformats.org/drawingml/2006/main" name="Theme89">
  <a:themeElements>
    <a:clrScheme name="Theme89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Theme89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Theme89">
      <a:fillStyleLst>
        <a:solidFill>
          <a:schemeClr val="phClr"/>
        </a:solidFill>
        <a:gradFill rotWithShape="1">
          <a:gsLst>
            <a:gs pos="0%">
              <a:schemeClr val="phClr">
                <a:tint val="50%"/>
                <a:satMod val="300%"/>
              </a:schemeClr>
            </a:gs>
            <a:gs pos="35%">
              <a:schemeClr val="phClr">
                <a:tint val="37%"/>
                <a:satMod val="300%"/>
              </a:schemeClr>
            </a:gs>
            <a:gs pos="100%">
              <a:schemeClr val="phClr">
                <a:tint val="15%"/>
                <a:satMod val="350%"/>
              </a:schemeClr>
            </a:gs>
          </a:gsLst>
          <a:lin ang="16200000" scaled="1"/>
        </a:gradFill>
        <a:gradFill rotWithShape="1">
          <a:gsLst>
            <a:gs pos="0%">
              <a:schemeClr val="phClr">
                <a:shade val="51%"/>
                <a:satMod val="130%"/>
              </a:schemeClr>
            </a:gs>
            <a:gs pos="80%">
              <a:schemeClr val="phClr">
                <a:shade val="93%"/>
                <a:satMod val="130%"/>
              </a:schemeClr>
            </a:gs>
            <a:gs pos="100%">
              <a:schemeClr val="phClr">
                <a:shade val="94%"/>
                <a:satMod val="135%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%"/>
              <a:satMod val="105%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%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h="25400" w="63500"/>
          </a:sp3d>
        </a:effectStyle>
      </a:effectStyleLst>
      <a:bgFillStyleLst>
        <a:solidFill>
          <a:schemeClr val="phClr"/>
        </a:solidFill>
        <a:gradFill rotWithShape="1">
          <a:gsLst>
            <a:gs pos="0%">
              <a:schemeClr val="phClr">
                <a:tint val="40%"/>
                <a:satMod val="350%"/>
              </a:schemeClr>
            </a:gs>
            <a:gs pos="40%">
              <a:schemeClr val="phClr">
                <a:tint val="45%"/>
                <a:shade val="99%"/>
                <a:satMod val="350%"/>
              </a:schemeClr>
            </a:gs>
            <a:gs pos="100%">
              <a:schemeClr val="phClr">
                <a:shade val="20%"/>
                <a:satMod val="255%"/>
              </a:schemeClr>
            </a:gs>
          </a:gsLst>
          <a:path path="circle">
            <a:fillToRect b="180%" l="50%" r="50%" t="-80%"/>
          </a:path>
        </a:gradFill>
        <a:gradFill rotWithShape="1">
          <a:gsLst>
            <a:gs pos="0%">
              <a:schemeClr val="phClr">
                <a:tint val="80%"/>
                <a:satMod val="300%"/>
              </a:schemeClr>
            </a:gs>
            <a:gs pos="100%">
              <a:schemeClr val="phClr">
                <a:shade val="30%"/>
                <a:satMod val="200%"/>
              </a:schemeClr>
            </a:gs>
          </a:gsLst>
          <a:path path="circle">
            <a:fillToRect b="50%" l="50%" r="50%" t="50%"/>
          </a:path>
        </a:gradFill>
      </a:bgFillStyleLst>
    </a:fmtScheme>
  </a:themeElements>
  <a:objectDefaults/>
  <a:extraClrSchemeLst/>
</a:theme>
</file>