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  <Relationship Id="rId4" Type="http://schemas.openxmlformats.org/officeDocument/2006/relationships/custom-properties" Target="docProps/custom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</p:sldIdLst>
  <p:sldSz cx="12192000" cy="6667500"/>
  <p:notesSz cx="6858000" cy="9144000"/>
  <p:defaultTextStyle>
    <a:defPPr>
      <a:defRPr lang="fr-FR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 lastView="sldView">
  <p:slideViewPr>
    <p:cSldViewPr>
      <p:cViewPr>
        <p:scale>
          <a:sx d="100" n="100"/>
          <a:sy d="100" n="100"/>
        </p:scale>
        <p:origin x="0" y="0"/>
      </p:cViewPr>
    </p:cSldViewPr>
  </p:slideViewPr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theme" Target="theme/theme1.xml"/>
  <Relationship Id="rId3" Type="http://schemas.openxmlformats.org/officeDocument/2006/relationships/slide" Target="slides/slide1.xml"/>
  <Relationship Id="rId4" Type="http://schemas.openxmlformats.org/officeDocument/2006/relationships/slide" Target="slides/slide2.xml"/>
  <Relationship Id="rId5" Type="http://schemas.openxmlformats.org/officeDocument/2006/relationships/slide" Target="slides/slide3.xml"/>
  <Relationship Id="rId6" Type="http://schemas.openxmlformats.org/officeDocument/2006/relationships/slide" Target="slides/slide4.xml"/>
  <Relationship Id="rId7" Type="http://schemas.openxmlformats.org/officeDocument/2006/relationships/slide" Target="slides/slide5.xml"/>
  <Relationship Id="rId8" Type="http://schemas.openxmlformats.org/officeDocument/2006/relationships/slide" Target="slides/slide6.xml"/>
  <Relationship Id="rId9" Type="http://schemas.openxmlformats.org/officeDocument/2006/relationships/presProps" Target="presProps.xml"/>
  <Relationship Id="rId10" Type="http://schemas.openxmlformats.org/officeDocument/2006/relationships/viewProps" Target="viewProps.xml"/>
  <Relationship Id="rId11" Type="http://schemas.openxmlformats.org/officeDocument/2006/relationships/tableStyles" Target="tableStyles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313920390" r:id="rId1"/>
  </p:sldLayoutIdLst>
  <p:txStyles>
    <p:titleStyle>
      <a:lvl1pPr algn="ctr">
        <a:defRPr sz="4400" kern="1200">
          <a:solidFill>
            <a:schemeClr val="lt1"/>
          </a:solidFill>
        </a:defRPr>
      </a:lvl1pPr>
      <a:extLst/>
    </p:titleStyle>
    <p:bodyStyle>
      <a:lvl1pPr algn="ctr" indent="-324900">
        <a:defRPr sz="3200" kern="1200">
          <a:solidFill>
            <a:schemeClr val="tx1"/>
          </a:solidFill>
        </a:defRPr>
      </a:lvl1pPr>
      <a:extLst/>
    </p:bodyStyle>
    <p:otherStyle>
      <a:defPPr algn="ctr">
        <a:defRPr kern="1200">
          <a:solidFill>
            <a:schemeClr val="tx1"/>
          </a:solidFill>
        </a:defRPr>
      </a:defPPr>
      <a:extLst/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logo1.png"/>
  <Relationship Id="rId3" Type="http://schemas.openxmlformats.org/officeDocument/2006/relationships/image" Target="../media/background_0.jpg"/>
</Relationships>
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95250" y="5715000"/>
          <a:ext cx="3905250" cy="6667500"/>
          <a:chOff x="95250" y="5715000"/>
          <a:chExt cx="3905250" cy="6667500"/>
        </a:xfrm>
      </p:grpSpPr>
      <p:pic>
        <p:nvPicPr>
          <p:cNvPr id="1" name="SWAS Logo" descr="SWAS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" y="5715000"/>
            <a:ext cx="3810000" cy="952500"/>
          </a:xfrm>
          <a:prstGeom prst="rect">
            <a:avLst/>
          </a:prstGeom>
          <a:effectLst>
            <a:outerShdw blurRad="57150" dist="95250" dir="2700000" algn="br" rotWithShape="0">
              <a:srgbClr val="000000">
                <a:alpha val="50%"/>
              </a:srgbClr>
            </a:outerShdw>
          </a:effectLst>
        </p:spPr>
      </p:pic>
    </p:spTree>
  </p:cSld>
  <p:clrMapOvr>
    <a:masterClrMapping/>
  </p:clrMapOvr>
  <p:transition advClick="0" advTm="5000">
    <p:cover dir="r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42875" y="142875"/>
          <a:ext cx="12001500" cy="2047875"/>
          <a:chOff x="142875" y="142875"/>
          <a:chExt cx="12001500" cy="2047875"/>
        </a:xfrm>
      </p:grpSpPr>
      <p:graphicFrame>
        <p:nvGraphicFramePr>
          <p:cNvPr id="1" name="" descr=""/>
          <p:cNvGraphicFramePr>
            <a:graphicFrameLocks noGrp="1"/>
          </p:cNvGraphicFramePr>
          <p:nvPr/>
        </p:nvGraphicFramePr>
        <p:xfrm>
          <a:off x="142875" y="142875"/>
          <a:ext cx="11858625" cy="1905000"/>
        </p:xfrm>
        <a:graphic>
          <a:graphicData uri="http://schemas.openxmlformats.org/drawingml/2006/table">
            <a:tbl>
              <a:tblPr firstRow="1" bandRow="1"/>
              <a:tblGrid>
                <a:gridCol w="952500"/>
                <a:gridCol w="762000"/>
                <a:gridCol w="1333500"/>
                <a:gridCol w="3476625"/>
                <a:gridCol w="1143000"/>
                <a:gridCol w="1000125"/>
                <a:gridCol w="1000125"/>
                <a:gridCol w="1143000"/>
                <a:gridCol w="1047750"/>
              </a:tblGrid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 gridSpan="9">
                  <a:txBody>
                    <a:bodyPr wrap="square" rtlCol="0">
                      <a:spAutoFit/>
                    </a:bodyPr>
                    <a:lstStyle/>
                    <a:p>
                      <a:pPr algn="ctr" fontAlgn="ctr" marL="0" marR="0" indent="0" lvl="0">
                        <a:lnSpc>
                          <a:spcPct val="100%"/>
                        </a:lnSpc>
                      </a:pPr>
                      <a:r>
                        <a:rPr lang="en-US" b="1" sz="13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OVER DUE, CURRENT DUE AND PROJECTED DUE]]></a:t>
                      </a:r>
                    </a:p>
                  </a:txBody>
                  <a:tcPr anchor="ctr" marL="0" marR="0" marT="76200" marB="7620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ead40e">
                        <a:alpha val="91.76%"/>
                      </a:srgbClr>
                    </a:solidFill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AIRCRAFT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ATA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57150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REFERENCE]]></a:t>
                      </a:r>
                    </a:p>
                  </a:txBody>
                  <a:tcPr anchor="ctr" marL="57150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DESCRIPTION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COMPLIANCE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INTERVAL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TOLERANCE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EXT DUE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REMAINING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0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0 Day VOR Check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0 DAY VOR CHECK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6/13/202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Days: 3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Days: 2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13-Jul-202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Days: 15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0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6M GROUP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6M GROUP COMPLIANCE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12/21/202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Months: 6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Days: 18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0-Jun-202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Days: 2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0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12M GROUP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12M GROUP COMPLIANCE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/19/2020 Hours: 7780.6 Cycles: 6092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Months: 12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Days: 3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1-May-202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d35400">
                              <a:alpha val="82.75%"/>
                            </a:srgbClr>
                          </a:solidFill>
                          <a:latin typeface="Calibri"/>
                        </a:rPr>
                        <a:t><![CDATA[Days: -28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0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24M GROUP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24M GROUP COMPLIANCE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6/02/2019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Months: 24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Days: 3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0-Jun-202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Days: 2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0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4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FAR 135.185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AIRCRAFT WEIGHING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6/05/2018 Hours: 7353.2 Cycles: 5743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Months: 36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0-Jun-202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Days: 2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0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2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10-00.21-30-00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PRESSURIZATION SYSTEM PRIMARY OUTFLOW VALVE FILTER ELEMENT - ALLIED SIGNAL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6/02/2019 Hours: 7530.6 Cycles: 591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8130.6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20.5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0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2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21-30-00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CABIN BAROMETRIC PRESSURE SWITCH - TEST BENCH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6/02/2019 Hours: 7530.6 Cycles: 591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Months: 24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Days: 3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0-Jun-202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Days: 2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0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2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10-00.21-20-00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CABIN BLOWER (INCLUDING BRUSHES) - ELECTROMECH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/27/2012 Hours: 5774.1 Cycles: 4529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24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8174.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64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0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22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22-10-00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AUTOPILOT SYSTEM - INSPECT THE F.G.P. FOR GENERAL CONDITION AND SECURITY OF INSTALLATION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6/24/2019 Hours: 7610.1 Cycles: 5922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Months: 24 Hours: 6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Days: 30 Hours: 6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0-Jun-2021 Hours: 8210.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Days: 2 ]]></a:t>
                      </a:r>
                      <a:r>
                        <a:rPr lang="en-US" sz="1000" spc="0" u="none">
                          <a:solidFill>
                            <a:srgbClr val="036a03">
                              <a:alpha val="1.18%"/>
                            </a:srgbClr>
                          </a:solidFill>
                          <a:latin typeface="Calibri"/>
                        </a:rPr>
                        <a:t><![CDATA[Hours: 100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 advClick="0" advTm="5000">
    <p:cover dir="r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42875" y="142875"/>
          <a:ext cx="12001500" cy="2047875"/>
          <a:chOff x="142875" y="142875"/>
          <a:chExt cx="12001500" cy="2047875"/>
        </a:xfrm>
      </p:grpSpPr>
      <p:graphicFrame>
        <p:nvGraphicFramePr>
          <p:cNvPr id="1" name="" descr=""/>
          <p:cNvGraphicFramePr>
            <a:graphicFrameLocks noGrp="1"/>
          </p:cNvGraphicFramePr>
          <p:nvPr/>
        </p:nvGraphicFramePr>
        <p:xfrm>
          <a:off x="142875" y="142875"/>
          <a:ext cx="11858625" cy="1905000"/>
        </p:xfrm>
        <a:graphic>
          <a:graphicData uri="http://schemas.openxmlformats.org/drawingml/2006/table">
            <a:tbl>
              <a:tblPr firstRow="1" bandRow="1"/>
              <a:tblGrid>
                <a:gridCol w="952500"/>
                <a:gridCol w="762000"/>
                <a:gridCol w="1333500"/>
                <a:gridCol w="3476625"/>
                <a:gridCol w="1143000"/>
                <a:gridCol w="1000125"/>
                <a:gridCol w="1000125"/>
                <a:gridCol w="1143000"/>
                <a:gridCol w="1047750"/>
              </a:tblGrid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 gridSpan="9">
                  <a:txBody>
                    <a:bodyPr wrap="square" rtlCol="0">
                      <a:spAutoFit/>
                    </a:bodyPr>
                    <a:lstStyle/>
                    <a:p>
                      <a:pPr algn="ctr" fontAlgn="ctr" marL="0" marR="0" indent="0" lvl="0">
                        <a:lnSpc>
                          <a:spcPct val="100%"/>
                        </a:lnSpc>
                      </a:pPr>
                      <a:r>
                        <a:rPr lang="en-US" b="1" sz="13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OVER DUE, CURRENT DUE AND PROJECTED DUE]]></a:t>
                      </a:r>
                    </a:p>
                  </a:txBody>
                  <a:tcPr anchor="ctr" marL="0" marR="0" marT="76200" marB="7620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ead40e">
                        <a:alpha val="91.76%"/>
                      </a:srgbClr>
                    </a:solidFill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AIRCRAFT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ATA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57150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REFERENCE]]></a:t>
                      </a:r>
                    </a:p>
                  </a:txBody>
                  <a:tcPr anchor="ctr" marL="57150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DESCRIPTION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COMPLIANCE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INTERVAL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TOLERANCE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EXT DUE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REMAINING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0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22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22-10-00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AUTOPILOT SYSTEM - INSPECT FOR GENERAL CONDITION AND SECURITY OF INSTALLATION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6/24/2019 Hours: 7610.1 Cycles: 5922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Months: 24 Hours: 6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Days: 30 Hours: 6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0-Jun-2021 Hours: 8210.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Days: 2 ]]></a:t>
                      </a:r>
                      <a:r>
                        <a:rPr lang="en-US" sz="1000" spc="0" u="none">
                          <a:solidFill>
                            <a:srgbClr val="036a03">
                              <a:alpha val="1.18%"/>
                            </a:srgbClr>
                          </a:solidFill>
                          <a:latin typeface="Calibri"/>
                        </a:rPr>
                        <a:t><![CDATA[Hours: 100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0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23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23-70-00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CVR UNDERWATER ACOUSTIC BEACON DUKANE DK120 - CLEAN AND PERFORM BATTERY CHECK - PERFORM OPERATIONAL TEST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6/02/2019 Hours: 7530.6 Cycles: 591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Months: 24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Days: 3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0-Jun-202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Days: 2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0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24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10-00.24-31-00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BATTERY - CONCORDE - CAPACITY TEST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12/21/2020 Hours: 7911.6 Cycles: 6183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Months: 6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0-Jun-202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Days: 2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0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25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25-60-00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ELT (AF) TYPE 503 - TECHTEST - OPERATIONAL TEST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3/25/2021 Hours: 7975.4 Cycles: 6222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Months: 3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0-Jun-202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Days: 2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0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25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25-60-00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EMERGENCY LOCATOR TRANSMITTER (ELT) - 12 MONTH INSPECTION - FAR 91.207(d)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/19/2020 Hours: 7780.6 Cycles: 6092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Months: 12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Days: 3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1-May-202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d35400">
                              <a:alpha val="82.75%"/>
                            </a:srgbClr>
                          </a:solidFill>
                          <a:latin typeface="Calibri"/>
                        </a:rPr>
                        <a:t><![CDATA[Days: -28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0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28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10-00.28-20-00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RT MAIN FUEL BOOSTER PUMP - PARKER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3/27/2012 Hours: 5774.1 Cycles: 4529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30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8274.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164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0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28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10-00.28-20-00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LT MAIN FUEL BOOSTER PUMP - PARKER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3/27/2012 Hours: 5774.1 Cycles: 4529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30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8274.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164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0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28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10-00.28-20-00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RT STANDBY FUEL BOOSTER PUMP - PARKER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3/27/2012 Hours: 5774.1 Cycles: 4529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30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8274.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164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0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28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10-00.28-20-00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LT STANDBY FUEL BOOSTER PUMP - PARKER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3/27/2012 Hours: 5774.1 Cycles: 4529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30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8274.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164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0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2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10-00.32-40-00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RT NOSE LANDING GEAR (NLG) WHEELS - BF GOODRICH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/03/2017 Hours: 7344.1 Cycles: 573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Cycles: 15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Cycles: 638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Cycles: 76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 advClick="0" advTm="5000">
    <p:cover dir="r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42875" y="142875"/>
          <a:ext cx="12001500" cy="2047875"/>
          <a:chOff x="142875" y="142875"/>
          <a:chExt cx="12001500" cy="2047875"/>
        </a:xfrm>
      </p:grpSpPr>
      <p:graphicFrame>
        <p:nvGraphicFramePr>
          <p:cNvPr id="1" name="" descr=""/>
          <p:cNvGraphicFramePr>
            <a:graphicFrameLocks noGrp="1"/>
          </p:cNvGraphicFramePr>
          <p:nvPr/>
        </p:nvGraphicFramePr>
        <p:xfrm>
          <a:off x="142875" y="142875"/>
          <a:ext cx="11858625" cy="1905000"/>
        </p:xfrm>
        <a:graphic>
          <a:graphicData uri="http://schemas.openxmlformats.org/drawingml/2006/table">
            <a:tbl>
              <a:tblPr firstRow="1" bandRow="1"/>
              <a:tblGrid>
                <a:gridCol w="952500"/>
                <a:gridCol w="762000"/>
                <a:gridCol w="1333500"/>
                <a:gridCol w="3476625"/>
                <a:gridCol w="1143000"/>
                <a:gridCol w="1000125"/>
                <a:gridCol w="1000125"/>
                <a:gridCol w="1143000"/>
                <a:gridCol w="1047750"/>
              </a:tblGrid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 gridSpan="9">
                  <a:txBody>
                    <a:bodyPr wrap="square" rtlCol="0">
                      <a:spAutoFit/>
                    </a:bodyPr>
                    <a:lstStyle/>
                    <a:p>
                      <a:pPr algn="ctr" fontAlgn="ctr" marL="0" marR="0" indent="0" lvl="0">
                        <a:lnSpc>
                          <a:spcPct val="100%"/>
                        </a:lnSpc>
                      </a:pPr>
                      <a:r>
                        <a:rPr lang="en-US" b="1" sz="13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OVER DUE, CURRENT DUE AND PROJECTED DUE]]></a:t>
                      </a:r>
                    </a:p>
                  </a:txBody>
                  <a:tcPr anchor="ctr" marL="0" marR="0" marT="76200" marB="7620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ead40e">
                        <a:alpha val="91.76%"/>
                      </a:srgbClr>
                    </a:solidFill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AIRCRAFT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ATA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57150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REFERENCE]]></a:t>
                      </a:r>
                    </a:p>
                  </a:txBody>
                  <a:tcPr anchor="ctr" marL="57150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DESCRIPTION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COMPLIANCE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INTERVAL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TOLERANCE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EXT DUE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REMAINING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0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2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10-00.32-40-00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LT NOSE LANDING GEAR (NLG) WHEELS - BF GOODRICH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/03/2017 Hours: 7344.1 Cycles: 573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Cycles: 15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Cycles: 638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Cycles: 76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0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2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4-00-00.32-20-00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OSE LANDING GEAR (NLG) MAIN FITTING - DOWTY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6/05/2018 Hours: 73453.2 Cycles: 5743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Cycles: 685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Cycles: 6293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Cycles: -1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0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2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4-00-00.32-20-00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OSE LANDING GEAR (NLG) MAIN FITTING - DOWTY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6/05/2018 Hours: 73453.2 Cycles: 5743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Cycles: 685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Cycles: 6293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Cycles: -1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0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4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FAR-91.34-61-00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GPS/FMS DATABASE UPDATE IAW AC90-100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6/17/202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Days: 28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14-Jul-202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Days: 16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0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4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34-10-00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STATIC PORTS (RVSM OPERATIONS) - OUTER PLATE AND INNER PORT STEP HEIGHT MEASUREMENT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6/02/2019 Hours: 7530.6 Cycles: 591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Months: 24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Days: 3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0-Jun-202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Days: 2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0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4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34-20-00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MAGNETIC COMPASS - INSPECT FOR GENERAL CONDITION. ADJUSTMENT/TEST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6/02/2019 Hours: 7530.6 Cycles: 591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Months: 24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Days: 3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0-Jun-202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Days: 2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0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5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35-20-00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OXYGEN BAROMETRIC PRESSURE SWITCH - CABIN BAROMETRIC PRESSURE SWITCH - BENCH TEST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6/02/2019 Hours: 7530.6 Cycles: 591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Months: 24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Days: 3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0-Jun-202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Days: 2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0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5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4-00-00.35-20-00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OXYGEN CYLINDER - SCOTT AVIATION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7/01/2006 Hours: 7344.1 Cycles: 573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Months: 18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1-Jul-202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Months: 1 ]]></a:t>
                      </a:r>
                      <a:r>
                        <a:rPr lang="en-US" sz="10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Days: 3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0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6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10-00.61-20-00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RT PROPELLER OVERSPEED GOVERNOR - WOODWARD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12/04/2019 Hours: 7698.9 Cycles: 601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5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8293.7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183.6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0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6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10-00.61-10-00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RT PROPELLER - HARTZELL - BLADE INSPECTION AND CORROSION REMOVAL IF NECESSARY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2/03/2021 Hours: 5822.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Months: 12 Hours: 2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3-Feb-2022 Hours: 6022.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36a03">
                              <a:alpha val="1.18%"/>
                            </a:srgbClr>
                          </a:solidFill>
                          <a:latin typeface="Calibri"/>
                        </a:rPr>
                        <a:t><![CDATA[Months: 7 ]]></a:t>
                      </a:r>
                      <a:r>
                        <a:rPr lang="en-US" sz="1000" spc="0" u="none">
                          <a:solidFill>
                            <a:srgbClr val="036a03">
                              <a:alpha val="1.18%"/>
                            </a:srgbClr>
                          </a:solidFill>
                          <a:latin typeface="Calibri"/>
                        </a:rPr>
                        <a:t><![CDATA[Days: 5 ]]></a:t>
                      </a:r>
                      <a:r>
                        <a:rPr lang="en-US" sz="10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38.7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 advClick="0" advTm="5000">
    <p:cover dir="r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42875" y="142875"/>
          <a:ext cx="12001500" cy="2047875"/>
          <a:chOff x="142875" y="142875"/>
          <a:chExt cx="12001500" cy="2047875"/>
        </a:xfrm>
      </p:grpSpPr>
      <p:graphicFrame>
        <p:nvGraphicFramePr>
          <p:cNvPr id="1" name="" descr=""/>
          <p:cNvGraphicFramePr>
            <a:graphicFrameLocks noGrp="1"/>
          </p:cNvGraphicFramePr>
          <p:nvPr/>
        </p:nvGraphicFramePr>
        <p:xfrm>
          <a:off x="142875" y="142875"/>
          <a:ext cx="11858625" cy="1905000"/>
        </p:xfrm>
        <a:graphic>
          <a:graphicData uri="http://schemas.openxmlformats.org/drawingml/2006/table">
            <a:tbl>
              <a:tblPr firstRow="1" bandRow="1"/>
              <a:tblGrid>
                <a:gridCol w="952500"/>
                <a:gridCol w="762000"/>
                <a:gridCol w="1333500"/>
                <a:gridCol w="3476625"/>
                <a:gridCol w="1143000"/>
                <a:gridCol w="1000125"/>
                <a:gridCol w="1000125"/>
                <a:gridCol w="1143000"/>
                <a:gridCol w="1047750"/>
              </a:tblGrid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 gridSpan="9">
                  <a:txBody>
                    <a:bodyPr wrap="square" rtlCol="0">
                      <a:spAutoFit/>
                    </a:bodyPr>
                    <a:lstStyle/>
                    <a:p>
                      <a:pPr algn="ctr" fontAlgn="ctr" marL="0" marR="0" indent="0" lvl="0">
                        <a:lnSpc>
                          <a:spcPct val="100%"/>
                        </a:lnSpc>
                      </a:pPr>
                      <a:r>
                        <a:rPr lang="en-US" b="1" sz="13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OVER DUE, CURRENT DUE AND PROJECTED DUE]]></a:t>
                      </a:r>
                    </a:p>
                  </a:txBody>
                  <a:tcPr anchor="ctr" marL="0" marR="0" marT="76200" marB="7620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ead40e">
                        <a:alpha val="91.76%"/>
                      </a:srgbClr>
                    </a:solidFill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AIRCRAFT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ATA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57150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REFERENCE]]></a:t>
                      </a:r>
                    </a:p>
                  </a:txBody>
                  <a:tcPr anchor="ctr" marL="57150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DESCRIPTION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COMPLIANCE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INTERVAL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TOLERANCE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EXT DUE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REMAINING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0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72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72-00-00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RT ENGINE - POWER TURBINE BLADES INSPECTION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12/21/2020 Hours: 9823 Cycles: 7403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2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2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10023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1.5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0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72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72-00-00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LT ENGINE - MINOR INSPECTION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12/21/2020 Hours: 7014.9 Cycles: 538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2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2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7214.9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1.5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0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73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73-10-00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LT ENGINE - FUEL PUMP INLET SCREEN - INSPECTION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12/21/2020 Hours: 7014.9 Cycles: 538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2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2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7214.9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1.5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0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73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73-10-00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LT ENGINE - FUEL PUMP OUTLET FILTER REPLACEMENT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12/21/2020 Hours: 7014.9 Cycles: 538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2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2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7214.9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1.5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0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73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10-00.73-10-00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LT ENGINE - P3 FILTER CLEAN OR REPLACE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7/16/2011 Hours: 6263.5 Cycles: 4823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10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7263.5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50.1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0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79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79-20-00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LT ENGINE - OIL FILTER INSPECTION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12/21/2020 Hours: 7014.9 Cycles: 538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2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2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7214.9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1.5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0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SB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SB-80-0457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P180 Avanti II (SAFRAN LG): TAT Probe Heater Inhibition on Ground.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4/30/2019 Hours: 7497.2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Months: 24 Hours: 66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Days: 2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0-Apr-2021 Hours: 8157.2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d35400">
                              <a:alpha val="82.75%"/>
                            </a:srgbClr>
                          </a:solidFill>
                          <a:latin typeface="Calibri"/>
                        </a:rPr>
                        <a:t><![CDATA[Months: -1 ]]></a:t>
                      </a:r>
                      <a:r>
                        <a:rPr lang="en-US" sz="1000" spc="0" u="none">
                          <a:solidFill>
                            <a:srgbClr val="d35400">
                              <a:alpha val="82.75%"/>
                            </a:srgbClr>
                          </a:solidFill>
                          <a:latin typeface="Calibri"/>
                        </a:rPr>
                        <a:t><![CDATA[Days: -29 ]]></a:t>
                      </a:r>
                      <a:r>
                        <a:rPr lang="en-US" sz="10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47.1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0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SB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SB-80-0457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P180 Avanti II (SAFRAN LG): TAT Probe Heater Inhibition on Ground.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4/30/2019 Hours: 7497.2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Months: 24 Hours: 66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Days: 2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0-Apr-2021 Hours: 8157.2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d35400">
                              <a:alpha val="82.75%"/>
                            </a:srgbClr>
                          </a:solidFill>
                          <a:latin typeface="Calibri"/>
                        </a:rPr>
                        <a:t><![CDATA[Months: -1 ]]></a:t>
                      </a:r>
                      <a:r>
                        <a:rPr lang="en-US" sz="1000" spc="0" u="none">
                          <a:solidFill>
                            <a:srgbClr val="d35400">
                              <a:alpha val="82.75%"/>
                            </a:srgbClr>
                          </a:solidFill>
                          <a:latin typeface="Calibri"/>
                        </a:rPr>
                        <a:t><![CDATA[Days: -29 ]]></a:t>
                      </a:r>
                      <a:r>
                        <a:rPr lang="en-US" sz="10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47.1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0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EMM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73-10-00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RT ENGINE FUEL PUMP INLET SCREEN - INSPECTION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12/21/2020 Hours: 9823 Cycles: 7403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2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10023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1.5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0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EMM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72-00-00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RT ENGINE - MINOR INSPECTION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12/21/2020 Hours: 9823 Cycles: 7403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2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10023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1.5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 advClick="0" advTm="5000">
    <p:cover dir="r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42875" y="142875"/>
          <a:ext cx="12001500" cy="2047875"/>
          <a:chOff x="142875" y="142875"/>
          <a:chExt cx="12001500" cy="2047875"/>
        </a:xfrm>
      </p:grpSpPr>
      <p:graphicFrame>
        <p:nvGraphicFramePr>
          <p:cNvPr id="1" name="" descr=""/>
          <p:cNvGraphicFramePr>
            <a:graphicFrameLocks noGrp="1"/>
          </p:cNvGraphicFramePr>
          <p:nvPr/>
        </p:nvGraphicFramePr>
        <p:xfrm>
          <a:off x="142875" y="142875"/>
          <a:ext cx="11858625" cy="1905000"/>
        </p:xfrm>
        <a:graphic>
          <a:graphicData uri="http://schemas.openxmlformats.org/drawingml/2006/table">
            <a:tbl>
              <a:tblPr firstRow="1" bandRow="1"/>
              <a:tblGrid>
                <a:gridCol w="952500"/>
                <a:gridCol w="762000"/>
                <a:gridCol w="1333500"/>
                <a:gridCol w="3476625"/>
                <a:gridCol w="1143000"/>
                <a:gridCol w="1000125"/>
                <a:gridCol w="1000125"/>
                <a:gridCol w="1143000"/>
                <a:gridCol w="1047750"/>
              </a:tblGrid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 gridSpan="9">
                  <a:txBody>
                    <a:bodyPr wrap="square" rtlCol="0">
                      <a:spAutoFit/>
                    </a:bodyPr>
                    <a:lstStyle/>
                    <a:p>
                      <a:pPr algn="ctr" fontAlgn="ctr" marL="0" marR="0" indent="0" lvl="0">
                        <a:lnSpc>
                          <a:spcPct val="100%"/>
                        </a:lnSpc>
                      </a:pPr>
                      <a:r>
                        <a:rPr lang="en-US" b="1" sz="13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OVER DUE, CURRENT DUE AND PROJECTED DUE]]></a:t>
                      </a:r>
                    </a:p>
                  </a:txBody>
                  <a:tcPr anchor="ctr" marL="0" marR="0" marT="76200" marB="7620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ead40e">
                        <a:alpha val="91.76%"/>
                      </a:srgbClr>
                    </a:solidFill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AIRCRAFT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ATA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57150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REFERENCE]]></a:t>
                      </a:r>
                    </a:p>
                  </a:txBody>
                  <a:tcPr anchor="ctr" marL="57150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DESCRIPTION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COMPLIANCE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INTERVAL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TOLERANCE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EXT DUE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REMAINING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0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EMM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73-10-07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RT ENGINE - P3 FILTER - CLEAN AND INSPECT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12/21/2020 Hours: 9823 Cycles: 7403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2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10023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1.5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0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EMM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73-10-00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RT ENGINE - FUEL PUMP OUTLET FILTER - REPLACEMENT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12/21/2020 Hours: 9823 Cycles: 7403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2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2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10023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1.5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0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EMM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73-10-07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LT ENGINE - P3 FILTER - CLEAN AND INSPECT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12/21/2020 Hours: 7014.9 Cycles: 538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2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2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7214.9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1.5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0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EMM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72-00-00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LT ENGINE - POWER TURBINE BLADES INSPECTION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12/21/2020 Hours: 7014.9 Cycles: 538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2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2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7214.9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1.5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0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EMM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79-20-00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RT ENGINE OIL FILTER - INSPECTION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12/21/2020 Hours: 9823 Cycles: 7403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2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10023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1.5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 advClick="0" advTm="5000">
    <p:cover dir="r"/>
  </p:transition>
</p:sld>
</file>

<file path=ppt/theme/theme1.xml><?xml version="1.0" encoding="utf-8"?>
<a:theme xmlns:a="http://schemas.openxmlformats.org/drawingml/2006/main" name="Theme39">
  <a:themeElements>
    <a:clrScheme name="Theme39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heme39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heme39">
      <a:fillStyleLst>
        <a:solidFill>
          <a:schemeClr val="phClr"/>
        </a:solidFill>
        <a:gradFill rotWithShape="1">
          <a:gsLst>
            <a:gs pos="0%">
              <a:schemeClr val="phClr">
                <a:tint val="50%"/>
                <a:satMod val="300%"/>
              </a:schemeClr>
            </a:gs>
            <a:gs pos="35%">
              <a:schemeClr val="phClr">
                <a:tint val="37%"/>
                <a:satMod val="300%"/>
              </a:schemeClr>
            </a:gs>
            <a:gs pos="100%">
              <a:schemeClr val="phClr">
                <a:tint val="15%"/>
                <a:satMod val="350%"/>
              </a:schemeClr>
            </a:gs>
          </a:gsLst>
          <a:lin ang="16200000" scaled="1"/>
        </a:gradFill>
        <a:gradFill rotWithShape="1">
          <a:gsLst>
            <a:gs pos="0%">
              <a:schemeClr val="phClr">
                <a:shade val="51%"/>
                <a:satMod val="130%"/>
              </a:schemeClr>
            </a:gs>
            <a:gs pos="80%">
              <a:schemeClr val="phClr">
                <a:shade val="93%"/>
                <a:satMod val="130%"/>
              </a:schemeClr>
            </a:gs>
            <a:gs pos="100%">
              <a:schemeClr val="phClr">
                <a:shade val="94%"/>
                <a:satMod val="135%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%"/>
              <a:satMod val="105%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%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%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%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h="25400" w="63500"/>
          </a:sp3d>
        </a:effectStyle>
      </a:effectStyleLst>
      <a:bgFillStyleLst>
        <a:solidFill>
          <a:schemeClr val="phClr"/>
        </a:solidFill>
        <a:gradFill rotWithShape="1">
          <a:gsLst>
            <a:gs pos="0%">
              <a:schemeClr val="phClr">
                <a:tint val="40%"/>
                <a:satMod val="350%"/>
              </a:schemeClr>
            </a:gs>
            <a:gs pos="40%">
              <a:schemeClr val="phClr">
                <a:tint val="45%"/>
                <a:shade val="99%"/>
                <a:satMod val="350%"/>
              </a:schemeClr>
            </a:gs>
            <a:gs pos="100%">
              <a:schemeClr val="phClr">
                <a:shade val="20%"/>
                <a:satMod val="255%"/>
              </a:schemeClr>
            </a:gs>
          </a:gsLst>
          <a:path path="circle">
            <a:fillToRect b="180%" l="50%" r="50%" t="-80%"/>
          </a:path>
        </a:gradFill>
        <a:gradFill rotWithShape="1">
          <a:gsLst>
            <a:gs pos="0%">
              <a:schemeClr val="phClr">
                <a:tint val="80%"/>
                <a:satMod val="300%"/>
              </a:schemeClr>
            </a:gs>
            <a:gs pos="100%">
              <a:schemeClr val="phClr">
                <a:shade val="30%"/>
                <a:satMod val="200%"/>
              </a:schemeClr>
            </a:gs>
          </a:gsLst>
          <a:path path="circle">
            <a:fillToRect b="50%" l="50%" r="50%" t="50%"/>
          </a:path>
        </a:gradFill>
      </a:bgFillStyleLst>
    </a:fmtScheme>
  </a:themeElements>
  <a:objectDefaults/>
  <a:extraClrSchemeLst/>
</a:theme>
</file>