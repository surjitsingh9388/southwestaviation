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  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2192000" cy="6667500"/>
  <p:notesSz cx="6858000" cy="9144000"/>
  <p:defaultTextStyle>
    <a:defPPr>
      <a:defRPr lang="fr-FR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 lastView="sldView">
  <p:slideViewPr>
    <p:cSldViewPr>
      <p:cViewPr>
        <p:scale>
          <a:sx d="100" n="100"/>
          <a:sy d="100" n="100"/>
        </p:scale>
        <p:origin x="0" y="0"/>
      </p:cViewPr>
    </p:cSldViewPr>
  </p:slideViewPr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slide" Target="slides/slide1.xml"/>
  <Relationship Id="rId4" Type="http://schemas.openxmlformats.org/officeDocument/2006/relationships/slide" Target="slides/slide2.xml"/>
  <Relationship Id="rId5" Type="http://schemas.openxmlformats.org/officeDocument/2006/relationships/slide" Target="slides/slide3.xml"/>
  <Relationship Id="rId6" Type="http://schemas.openxmlformats.org/officeDocument/2006/relationships/slide" Target="slides/slide4.xml"/>
  <Relationship Id="rId7" Type="http://schemas.openxmlformats.org/officeDocument/2006/relationships/slide" Target="slides/slide5.xml"/>
  <Relationship Id="rId8" Type="http://schemas.openxmlformats.org/officeDocument/2006/relationships/slide" Target="slides/slide6.xml"/>
  <Relationship Id="rId9" Type="http://schemas.openxmlformats.org/officeDocument/2006/relationships/slide" Target="slides/slide7.xml"/>
  <Relationship Id="rId10" Type="http://schemas.openxmlformats.org/officeDocument/2006/relationships/slide" Target="slides/slide8.xml"/>
  <Relationship Id="rId11" Type="http://schemas.openxmlformats.org/officeDocument/2006/relationships/presProps" Target="presProps.xml"/>
  <Relationship Id="rId12" Type="http://schemas.openxmlformats.org/officeDocument/2006/relationships/viewProps" Target="viewProps.xml"/>
  <Relationship Id="rId13" Type="http://schemas.openxmlformats.org/officeDocument/2006/relationships/tableStyles" Target="tableStyles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313915783" r:id="rId1"/>
  </p:sldLayoutIdLst>
  <p:txStyles>
    <p:titleStyle>
      <a:lvl1pPr algn="ctr">
        <a:defRPr sz="4400" kern="1200">
          <a:solidFill>
            <a:schemeClr val="lt1"/>
          </a:solidFill>
        </a:defRPr>
      </a:lvl1pPr>
      <a:extLst/>
    </p:titleStyle>
    <p:bodyStyle>
      <a:lvl1pPr algn="ctr" indent="-324900">
        <a:defRPr sz="3200" kern="1200">
          <a:solidFill>
            <a:schemeClr val="tx1"/>
          </a:solidFill>
        </a:defRPr>
      </a:lvl1pPr>
      <a:extLst/>
    </p:bodyStyle>
    <p:otherStyle>
      <a:defPPr algn="ctr">
        <a:defRPr kern="1200">
          <a:solidFill>
            <a:schemeClr val="tx1"/>
          </a:solidFill>
        </a:defRPr>
      </a:defPPr>
      <a:extLst/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logo1.png"/>
  <Relationship Id="rId3" Type="http://schemas.openxmlformats.org/officeDocument/2006/relationships/image" Target="../media/background_0.jpg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95250" y="5715000"/>
          <a:ext cx="3905250" cy="6667500"/>
          <a:chOff x="95250" y="5715000"/>
          <a:chExt cx="3905250" cy="6667500"/>
        </a:xfrm>
      </p:grpSpPr>
      <p:pic>
        <p:nvPicPr>
          <p:cNvPr id="1" name="SWAS Logo" descr="SWAS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" y="5715000"/>
            <a:ext cx="3810000" cy="952500"/>
          </a:xfrm>
          <a:prstGeom prst="rect">
            <a:avLst/>
          </a:prstGeom>
          <a:effectLst>
            <a:outerShdw blurRad="57150" dist="95250" dir="2700000" algn="br" rotWithShape="0">
              <a:srgbClr val="000000">
                <a:alpha val="50%"/>
              </a:srgbClr>
            </a:outerShdw>
          </a:effectLst>
        </p:spPr>
      </p:pic>
    </p:spTree>
  </p:cSld>
  <p:clrMapOvr>
    <a:masterClrMapping/>
  </p:clrMapOvr>
  <p:transition advClick="0" advTm="5000">
    <p:cover dir="r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12001500" cy="2047875"/>
          <a:chOff x="142875" y="142875"/>
          <a:chExt cx="12001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11858625" cy="1905000"/>
        </p:xfrm>
        <a:graphic>
          <a:graphicData uri="http://schemas.openxmlformats.org/drawingml/2006/table">
            <a:tbl>
              <a:tblPr firstRow="1" bandRow="1"/>
              <a:tblGrid>
                <a:gridCol w="952500"/>
                <a:gridCol w="762000"/>
                <a:gridCol w="1333500"/>
                <a:gridCol w="3476625"/>
                <a:gridCol w="1143000"/>
                <a:gridCol w="1000125"/>
                <a:gridCol w="1000125"/>
                <a:gridCol w="1143000"/>
                <a:gridCol w="1047750"/>
              </a:tblGrid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 gridSpan="9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3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57150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]]></a:t>
                      </a:r>
                    </a:p>
                  </a:txBody>
                  <a:tcPr anchor="ctr" marL="57150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6M GROUP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6M GROUP COMPLIANC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0/08/2020 Hours: 8320.5 Cycles: 637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1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Apr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1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9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M GROUP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M GROUP COMPLIANC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M GROUP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M GROUP COMPLIANC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/21/2019 Hours: 8233.5 Cycles: 627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y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a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"A" 200 FH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8/31/2017 Hours: 8178.7 Cycles: 623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8378.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Hours: -17.3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11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IOR PLACARDS AND DECALS - INSPECT FOR SECURITY OF INSTALLATION AND LEGIBILITY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11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PLANE ID PLATE - INSPECT FOR SECURITY OF INSTALLATION AND LEGIBILITY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11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EXTERIOR PLACARDS, DECALS, AND MARKINGS - INSPECT FOR SECURITY OF INSTALLATION AND LEGIBILITY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1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BLEED AIR DUCTS LEAKAGE MONITORING SYSTEM - FUNCTIONAL CHECK OF ELECTRICAL CIRCUITRY AND THERMAL SWITCHE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9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1-3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ABIN BAROMETRIC PRESSURE SWITCH - TEST BENCH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/21/2019 Hours: 8233.5 Cycles: 627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y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12001500" cy="2047875"/>
          <a:chOff x="142875" y="142875"/>
          <a:chExt cx="12001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11858625" cy="1905000"/>
        </p:xfrm>
        <a:graphic>
          <a:graphicData uri="http://schemas.openxmlformats.org/drawingml/2006/table">
            <a:tbl>
              <a:tblPr firstRow="1" bandRow="1"/>
              <a:tblGrid>
                <a:gridCol w="952500"/>
                <a:gridCol w="762000"/>
                <a:gridCol w="1333500"/>
                <a:gridCol w="3476625"/>
                <a:gridCol w="1143000"/>
                <a:gridCol w="1000125"/>
                <a:gridCol w="1000125"/>
                <a:gridCol w="1143000"/>
                <a:gridCol w="1047750"/>
              </a:tblGrid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 gridSpan="9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3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57150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]]></a:t>
                      </a:r>
                    </a:p>
                  </a:txBody>
                  <a:tcPr anchor="ctr" marL="57150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1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CKPIT BLOWER - OPERA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7/2020 Hours: 8324.9 Cycles: 637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6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18 Hours: 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y-2021 Hours: 8524.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128.9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3-0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NTENNAS - INSPECT FOR GENERAL CONDITION AND SECURITY OF INSTALLA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9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4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GROUND FAULT INTERRUPTER - TEST, THROUGH "TEST GFI" BUTTON ON THE UNI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9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4-3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STARTER/GENERATOR - LEAR SIEGLER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4/12/2013 Hours: 7411.7 Cycles: 571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8411.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5.7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4-3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TARTER/GENERATOR AIR COOLING DUCTS - INSPECT FOR GENERAL CONDITION, PRESENCE OF KINK, DAMAGES AND OBSTUCTIONS. INSPECT THE COOLING DUCTS FOR PROPER INSTALLA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5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1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4-31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AIN BATTERY - CONCORDE - CAPACITY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1/28/2021 Hours: 8357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Apr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1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9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4-31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BATTERY INSTALLATION - INSPECT GROUNDING CONNECTION. INSPECT PLATE AND BAY FOR CORROSION. INSPECT TEMPERATURE SYSTEM CONNECTOR. INSPECT FOR SPEWAG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5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1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4-31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BATTERY INSTALLATION - TEMPERATURE INDICATION OPERATIONAL TEST (MFD)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9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4-31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BATTERY QUICK DISCONNECT PLUG - INSPECT THE QUICK DISCONNECT PLUG INTERNAL COMPONENTS QUICK DISCONNECT PLUG TERMINAL TORQUE CHECK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9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4-3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EMERGENCY POWER UNIT - CAPACITY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7/2020 Hours: 8324.9 Cycles: 637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1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y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12001500" cy="2047875"/>
          <a:chOff x="142875" y="142875"/>
          <a:chExt cx="12001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11858625" cy="1905000"/>
        </p:xfrm>
        <a:graphic>
          <a:graphicData uri="http://schemas.openxmlformats.org/drawingml/2006/table">
            <a:tbl>
              <a:tblPr firstRow="1" bandRow="1"/>
              <a:tblGrid>
                <a:gridCol w="952500"/>
                <a:gridCol w="762000"/>
                <a:gridCol w="1333500"/>
                <a:gridCol w="3476625"/>
                <a:gridCol w="1143000"/>
                <a:gridCol w="1000125"/>
                <a:gridCol w="1000125"/>
                <a:gridCol w="1143000"/>
                <a:gridCol w="1047750"/>
              </a:tblGrid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 gridSpan="9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3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57150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]]></a:t>
                      </a:r>
                    </a:p>
                  </a:txBody>
                  <a:tcPr anchor="ctr" marL="57150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5-0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ABIN, FLIGHT, AND BAGGAGE COMPARTMENT INSPECTION - INSPECT FOR OBJECTS THAT MIGHT FOUL THE AIRPLANE CONTROL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9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5-6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ELT (AF) TYPE 503 - TECHTEST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0/08/2020 Hours: 8320.5 Cycles: 637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1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Apr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1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9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5-6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ELT (AF) TYPE 503 - TECHTEST - OPERA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2/03/2021 Hours: 8357.8 Cycles: 639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y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5-6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FIRST AID KIT - VISUAL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7/2020 Hours: 8324.9 Cycles: 637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1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y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6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FIRE EXTINGUISHING BOTTLE - VISUAL INSPECTION AND WEIGHT CHECK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9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6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FIRE EXTINGUISHING BOTTLE - VISUAL INSPECTION AND WEIGHT CHECK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9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6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FIRE EXTINGUISHING ELECTRICAL CIRCUIT - CHECK FOR CONTINUITY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9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FWD FLAP ACTUATORS AND FITTINGS - VISUAL INSPECTION FOR GENERAL CONDITION AND CORROS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9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4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RIZONTAL STABILIZER TRIM SYSTEM - OPERA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5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1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3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ELEVATOR CONTROL SYSTEM - CHECK SMOOTH TRAVEL WITH STABILIZER AT -4.5 DEG (SPRING AT NEUTRAL CONDITION) AND VERIFY SPRING PROPER EFFECTIVENESS WITH STABILIZER AT FULL UP AND FULL DOW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9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12001500" cy="2047875"/>
          <a:chOff x="142875" y="142875"/>
          <a:chExt cx="12001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11858625" cy="1905000"/>
        </p:xfrm>
        <a:graphic>
          <a:graphicData uri="http://schemas.openxmlformats.org/drawingml/2006/table">
            <a:tbl>
              <a:tblPr firstRow="1" bandRow="1"/>
              <a:tblGrid>
                <a:gridCol w="952500"/>
                <a:gridCol w="762000"/>
                <a:gridCol w="1333500"/>
                <a:gridCol w="3476625"/>
                <a:gridCol w="1143000"/>
                <a:gridCol w="1000125"/>
                <a:gridCol w="1000125"/>
                <a:gridCol w="1143000"/>
                <a:gridCol w="1047750"/>
              </a:tblGrid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 gridSpan="9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3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57150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]]></a:t>
                      </a:r>
                    </a:p>
                  </a:txBody>
                  <a:tcPr anchor="ctr" marL="57150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FLAP SYSTEM - OPERATIONAL TEST (FUNCTIONAL TEST IF FLAPS REMOVED)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9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0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FLIGHT CONTROLS - CHECK FOR SMOOTH TRAVEL. CHECK SURFACES ELECTRICAL BONDING AND STOP EFFECTIVENESS.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9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9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YDRAULIC POWER PACKAGE ELECTRIC MOTOR - VICKERS - CHECK BRUSHES FOR WEAR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0/21/2004 Hours: 7777.1 Cycles: 594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8377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Hours: -18.9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2-0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ANDING GEAR - OPERATIONAL TEST INCLUDING HAND PUMP GEAR EXS CHECK FOR PROPER OPERA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5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1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2-0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ANDING GEAR - LUBRICAT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Cycles: 18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Cycles: 1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Cycles: 655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Cycles: 1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2-4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IRES - INSPECT FOR WEAR, CUTS, INFLATION, CLENLINESS, AND EVIDENCE OF DAMAG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5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1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2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AIN LANDING GEAR (MLG) STRUTS - CHECK NITROGEN PRESSUR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5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1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2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OSE LANDING GEAR (NLG) STRUT - CHECK NITROGEN PRESSUR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5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1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3-0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EXTERNAL LIGHTS - OPERA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5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1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4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PITOT TUBES, STATIC PORTS AND LINES - INSPECT FOR GENERAL CONDITION AND SECURITY OF INSTALLATION; PERFORM PILOT AND COPILOT LINES CHECK AND CLEAN. PERFORM PILOT AND COPILOT HOLE CLEANING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9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12001500" cy="2047875"/>
          <a:chOff x="142875" y="142875"/>
          <a:chExt cx="12001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11858625" cy="1905000"/>
        </p:xfrm>
        <a:graphic>
          <a:graphicData uri="http://schemas.openxmlformats.org/drawingml/2006/table">
            <a:tbl>
              <a:tblPr firstRow="1" bandRow="1"/>
              <a:tblGrid>
                <a:gridCol w="952500"/>
                <a:gridCol w="762000"/>
                <a:gridCol w="1333500"/>
                <a:gridCol w="3476625"/>
                <a:gridCol w="1143000"/>
                <a:gridCol w="1000125"/>
                <a:gridCol w="1000125"/>
                <a:gridCol w="1143000"/>
                <a:gridCol w="1047750"/>
              </a:tblGrid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 gridSpan="9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3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57150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]]></a:t>
                      </a:r>
                    </a:p>
                  </a:txBody>
                  <a:tcPr anchor="ctr" marL="57150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FAR-91.34-61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GPS/FMS DATABASE UPDATE IAW AC90-1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6/17/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2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4-Jul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16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4-11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VSM AIR DATA SYSTEM (RVSM OPERATIONS) - GROUND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9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4-11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VSM CRITICAL REGION (RVSM OPERATIONS) - VISUAL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9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4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T. BY INSTRUMENT ISI GH3100 - OPERA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0/08/2020 Hours: 8320.5 Cycles: 637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6 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18 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Apr-2021 Hours: 8920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1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9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24.5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4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CAS I SYSTEM - SYSTEM TEST (AUTOTEST)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9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4-0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AVIGATION SYSTEM ANTENNAS - INSPECT FOR GENERAL CONDITION AND SECURITY OF INSTALLA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9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4-0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ASS CARD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5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XYGEN BAROMETRIC PRESSURE SWITCH - CABIN BAROMETRIC PRESSURE SWITCH - BENCH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/21/2019 Hours: 8233.5 Cycles: 627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y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35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XYGEN SYSTEM THREE POSITION VALVE - PACIFIC PRECIS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21/2016 Hours: 7956.7 Cycles: 606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5-0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MOKE GOGGLES -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7/2020 Hours: 8324.9 Cycles: 637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1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y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12001500" cy="2047875"/>
          <a:chOff x="142875" y="142875"/>
          <a:chExt cx="12001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11858625" cy="1905000"/>
        </p:xfrm>
        <a:graphic>
          <a:graphicData uri="http://schemas.openxmlformats.org/drawingml/2006/table">
            <a:tbl>
              <a:tblPr firstRow="1" bandRow="1"/>
              <a:tblGrid>
                <a:gridCol w="952500"/>
                <a:gridCol w="762000"/>
                <a:gridCol w="1333500"/>
                <a:gridCol w="3476625"/>
                <a:gridCol w="1143000"/>
                <a:gridCol w="1000125"/>
                <a:gridCol w="1000125"/>
                <a:gridCol w="1143000"/>
                <a:gridCol w="1047750"/>
              </a:tblGrid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 gridSpan="9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3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57150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]]></a:t>
                      </a:r>
                    </a:p>
                  </a:txBody>
                  <a:tcPr anchor="ctr" marL="57150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5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51-0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FUSELAGE - CHECK THE FUSELAGE EXTERNAL DRAIN POINTS AND DRAIN THE BELLY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0/08/2020 Hours: 8320.5 Cycles: 637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6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18 Hours: 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Apr-2021 Hours: 8520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1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9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124.5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5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53-0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FUSELAGE BELLY INTERNAL - CENTRAL BAYS - DRAIN HOLES CHECK AND CLEANING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9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5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53-8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AILCONE SKINS - VISUAL INSPECTION OF STRINGER/SKIN JOINTS/EXTERNAL SKIN FOR CRACKS AND CORROSION. VISUAL INSPECTION OF BULKHEAD FAIRLEADS FOR PROPER CONDI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9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5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53-8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ETALLIC TAIL CONE (INCLUDING VERTICAL STABILIZER) - VISUAL INSPECTION OF OUTER SKIN FOR CRACKS AND CORROS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5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53-6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AIN LANDING GEAR (MLG) BAY AREA - 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9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5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53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OSE LANDING GEAR (NLG) BAY AREA - 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9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5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5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55-0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RIZONTAL STABILIZER ASSEMBLY - VISUAL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5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1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5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55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ELEVATOR - VISUAL INSPECTION FOR GENERAL CONDI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5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1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5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57-4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WING LEADING EDGES (POLISHED) - VISUAL EXTERNAL INSPECTION SURFACE FOR CORROSION/OXIDATION AND GENERAL CONDI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5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1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6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61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PROPELLERS - INSPECT FOR GENERAL CONDI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5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1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12001500" cy="2047875"/>
          <a:chOff x="142875" y="142875"/>
          <a:chExt cx="12001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11858625" cy="1905000"/>
        </p:xfrm>
        <a:graphic>
          <a:graphicData uri="http://schemas.openxmlformats.org/drawingml/2006/table">
            <a:tbl>
              <a:tblPr firstRow="1" bandRow="1"/>
              <a:tblGrid>
                <a:gridCol w="952500"/>
                <a:gridCol w="762000"/>
                <a:gridCol w="1333500"/>
                <a:gridCol w="3476625"/>
                <a:gridCol w="1143000"/>
                <a:gridCol w="1000125"/>
                <a:gridCol w="1000125"/>
                <a:gridCol w="1143000"/>
                <a:gridCol w="1047750"/>
              </a:tblGrid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 gridSpan="9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3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57150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]]></a:t>
                      </a:r>
                    </a:p>
                  </a:txBody>
                  <a:tcPr anchor="ctr" marL="57150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6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61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PROPELLER - HARTZELL - BLADE INSPECTION AND CORROSION REMOVAL IF NECESSARY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8/13/2020 Hours: 5945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3-Aug-2021 Hours: 6145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1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5 ]]></a:t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34.2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6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61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PROPELLERS - LUBRICAT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15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46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7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6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61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UTOFEATHER HIGH AND LOW TORQUE PRESSURE SWITCHES - BENCH CALIBRATION OR PERFORM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1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ENGINE MOUNTS AND VIBRATION ISOLATORS - INSPECT ENGINES MOUNTS CRADLE AND THE VIBRATION ISOLATOR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5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1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1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ENGINE MOUNT ELECTRICAL BONDING CONNECTIONS - INSPECT THE ENGINES MOUNTS ELECTRICAL BONDING FOR DAMAGE, SECURITY OF INSTALLATION, AND AABSENCE OF CORROS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Hours: 8518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122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1-0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ENGINES - INSPECT FOR PROPER INSTALLATION. INSPECT FOR FUEL AND OIL LEAKS. INSPECT HOSES, TUBING, CLAMPS, ELECTRICAL CONNECTORS AND ENGINE ACCESSORIES FOR PROPER INSTALLA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8/2020 Hours: 8318.8 Cycles: 637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Months: -2 ]]></a:t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72-0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HOT SECTION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1/2011 Hours: 6095.5 Cycles: 560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5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8095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69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267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-80-0457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P180 Avanti II (SAFRAN LG): TAT Probe Heater Inhibition on Ground. **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4/30/2019 Hours: 8181.9 Cycles: 626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24 Hours: 6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Apr-2021 Hours: 8841.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Months: -1 ]]></a:t>
                      </a: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Days: -29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445.9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theme/theme1.xml><?xml version="1.0" encoding="utf-8"?>
<a:theme xmlns:a="http://schemas.openxmlformats.org/drawingml/2006/main" name="Theme39">
  <a:themeElements>
    <a:clrScheme name="Theme39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heme39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heme39">
      <a:fillStyleLst>
        <a:solidFill>
          <a:schemeClr val="phClr"/>
        </a:solidFill>
        <a:gradFill rotWithShape="1">
          <a:gsLst>
            <a:gs pos="0%">
              <a:schemeClr val="phClr">
                <a:tint val="50%"/>
                <a:satMod val="300%"/>
              </a:schemeClr>
            </a:gs>
            <a:gs pos="35%">
              <a:schemeClr val="phClr">
                <a:tint val="37%"/>
                <a:satMod val="300%"/>
              </a:schemeClr>
            </a:gs>
            <a:gs pos="100%">
              <a:schemeClr val="phClr">
                <a:tint val="15%"/>
                <a:satMod val="350%"/>
              </a:schemeClr>
            </a:gs>
          </a:gsLst>
          <a:lin ang="16200000" scaled="1"/>
        </a:gradFill>
        <a:gradFill rotWithShape="1">
          <a:gsLst>
            <a:gs pos="0%">
              <a:schemeClr val="phClr">
                <a:shade val="51%"/>
                <a:satMod val="130%"/>
              </a:schemeClr>
            </a:gs>
            <a:gs pos="80%">
              <a:schemeClr val="phClr">
                <a:shade val="93%"/>
                <a:satMod val="130%"/>
              </a:schemeClr>
            </a:gs>
            <a:gs pos="100%">
              <a:schemeClr val="phClr">
                <a:shade val="94%"/>
                <a:satMod val="135%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%"/>
              <a:satMod val="105%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r="5400000" dist="20000" rotWithShape="0">
              <a:srgbClr val="000000">
                <a:alpha val="38%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%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%"/>
              </a:srgbClr>
            </a:outerShdw>
          </a:effectLst>
          <a:scene3d>
            <a:camera prst="orthographicFront">
              <a:rot lat="0" lon="0" rev="0"/>
            </a:camera>
            <a:lightRig dir="t" rig="threePt">
              <a:rot lat="0" lon="0" rev="1200000"/>
            </a:lightRig>
          </a:scene3d>
          <a:sp3d>
            <a:bevelT h="25400" w="63500"/>
          </a:sp3d>
        </a:effectStyle>
      </a:effectStyleLst>
      <a:bgFillStyleLst>
        <a:solidFill>
          <a:schemeClr val="phClr"/>
        </a:solidFill>
        <a:gradFill rotWithShape="1">
          <a:gsLst>
            <a:gs pos="0%">
              <a:schemeClr val="phClr">
                <a:tint val="40%"/>
                <a:satMod val="350%"/>
              </a:schemeClr>
            </a:gs>
            <a:gs pos="40%">
              <a:schemeClr val="phClr">
                <a:tint val="45%"/>
                <a:shade val="99%"/>
                <a:satMod val="350%"/>
              </a:schemeClr>
            </a:gs>
            <a:gs pos="100%">
              <a:schemeClr val="phClr">
                <a:shade val="20%"/>
                <a:satMod val="255%"/>
              </a:schemeClr>
            </a:gs>
          </a:gsLst>
          <a:path path="circle">
            <a:fillToRect b="180%" l="50%" r="50%" t="-80%"/>
          </a:path>
        </a:gradFill>
        <a:gradFill rotWithShape="1">
          <a:gsLst>
            <a:gs pos="0%">
              <a:schemeClr val="phClr">
                <a:tint val="80%"/>
                <a:satMod val="300%"/>
              </a:schemeClr>
            </a:gs>
            <a:gs pos="100%">
              <a:schemeClr val="phClr">
                <a:shade val="30%"/>
                <a:satMod val="200%"/>
              </a:schemeClr>
            </a:gs>
          </a:gsLst>
          <a:path path="circle">
            <a:fillToRect b="50%" l="50%" r="50%" t="50%"/>
          </a:path>
        </a:gradFill>
      </a:bgFillStyleLst>
    </a:fmtScheme>
  </a:themeElements>
  <a:objectDefaults/>
  <a:extraClrSchemeLst/>
</a:theme>
</file>